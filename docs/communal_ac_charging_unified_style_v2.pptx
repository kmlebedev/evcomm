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38d6a50d3e4043" /><Relationship Type="http://schemas.openxmlformats.org/officeDocument/2006/relationships/extended-properties" Target="/docProps/app.xml" Id="R384af2524b074282" /><Relationship Type="http://schemas.openxmlformats.org/officeDocument/2006/relationships/officeDocument" Target="/ppt/presentation.xml" Id="Re399292bb90d45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1da329698b4b63"/>
  </p:sldMasterIdLst>
  <p:notesMasterIdLst>
    <p:notesMasterId xmlns:r="http://schemas.openxmlformats.org/officeDocument/2006/relationships" r:id="Rfc7c43e505664e3e"/>
  </p:notesMasterIdLst>
  <p:sldIdLst>
    <p:sldId xmlns:r="http://schemas.openxmlformats.org/officeDocument/2006/relationships" id="256" r:id="R58e8a00add7d4c63"/>
    <p:sldId xmlns:r="http://schemas.openxmlformats.org/officeDocument/2006/relationships" id="257" r:id="Rde32b61aa4ed40c4"/>
    <p:sldId xmlns:r="http://schemas.openxmlformats.org/officeDocument/2006/relationships" id="258" r:id="R8e13fce18d844c3f"/>
    <p:sldId xmlns:r="http://schemas.openxmlformats.org/officeDocument/2006/relationships" id="259" r:id="R8eb353aab5184c4a"/>
    <p:sldId xmlns:r="http://schemas.openxmlformats.org/officeDocument/2006/relationships" id="260" r:id="R3508dd7226cf43d7"/>
    <p:sldId xmlns:r="http://schemas.openxmlformats.org/officeDocument/2006/relationships" id="261" r:id="R920dbfd6b219490f"/>
    <p:sldId xmlns:r="http://schemas.openxmlformats.org/officeDocument/2006/relationships" id="262" r:id="R76514a16b0334494"/>
    <p:sldId xmlns:r="http://schemas.openxmlformats.org/officeDocument/2006/relationships" id="263" r:id="Rb8c1cd3bf0a24011"/>
    <p:sldId xmlns:r="http://schemas.openxmlformats.org/officeDocument/2006/relationships" id="264" r:id="R257cb31ccf4948c0"/>
    <p:sldId xmlns:r="http://schemas.openxmlformats.org/officeDocument/2006/relationships" id="265" r:id="Rc2226da38c0b4d3d"/>
    <p:sldId xmlns:r="http://schemas.openxmlformats.org/officeDocument/2006/relationships" id="266" r:id="R8671a090d6a14d66"/>
    <p:sldId xmlns:r="http://schemas.openxmlformats.org/officeDocument/2006/relationships" id="267" r:id="R01fd68342d3346b5"/>
    <p:sldId xmlns:r="http://schemas.openxmlformats.org/officeDocument/2006/relationships" id="268" r:id="R186f9c6daef346fe"/>
    <p:sldId xmlns:r="http://schemas.openxmlformats.org/officeDocument/2006/relationships" id="269" r:id="Rcfb2e3fac896414a"/>
    <p:sldId xmlns:r="http://schemas.openxmlformats.org/officeDocument/2006/relationships" id="270" r:id="R8c2b99b4898d4e51"/>
    <p:sldId xmlns:r="http://schemas.openxmlformats.org/officeDocument/2006/relationships" id="271" r:id="R027098de659a4e64"/>
    <p:sldId xmlns:r="http://schemas.openxmlformats.org/officeDocument/2006/relationships" id="272" r:id="R4ec36874a1ed4f90"/>
    <p:sldId xmlns:r="http://schemas.openxmlformats.org/officeDocument/2006/relationships" id="273" r:id="Rb6bb1b0e3fa84803"/>
    <p:sldId xmlns:r="http://schemas.openxmlformats.org/officeDocument/2006/relationships" id="274" r:id="R5070fd413fc44e7a"/>
    <p:sldId xmlns:r="http://schemas.openxmlformats.org/officeDocument/2006/relationships" id="275" r:id="Ra2f64d6ae5074ff2"/>
    <p:sldId xmlns:r="http://schemas.openxmlformats.org/officeDocument/2006/relationships" id="276" r:id="R2a840b2fe8434d9f"/>
    <p:sldId xmlns:r="http://schemas.openxmlformats.org/officeDocument/2006/relationships" id="277" r:id="R065f07252d2a46b2"/>
    <p:sldId xmlns:r="http://schemas.openxmlformats.org/officeDocument/2006/relationships" id="278" r:id="Rd1c40e41fc644aa3"/>
    <p:sldId xmlns:r="http://schemas.openxmlformats.org/officeDocument/2006/relationships" id="279" r:id="R92dd9885d2d549b7"/>
    <p:sldId xmlns:r="http://schemas.openxmlformats.org/officeDocument/2006/relationships" id="280" r:id="Rbf2f325d20ee44e4"/>
    <p:sldId xmlns:r="http://schemas.openxmlformats.org/officeDocument/2006/relationships" id="281" r:id="R4560f9c533a540b6"/>
    <p:sldId xmlns:r="http://schemas.openxmlformats.org/officeDocument/2006/relationships" id="282" r:id="R712fb804fbe346d0"/>
    <p:sldId xmlns:r="http://schemas.openxmlformats.org/officeDocument/2006/relationships" id="283" r:id="R3f19708e03fb4fa6"/>
    <p:sldId xmlns:r="http://schemas.openxmlformats.org/officeDocument/2006/relationships" id="284" r:id="R152eaeaa752043ec"/>
    <p:sldId xmlns:r="http://schemas.openxmlformats.org/officeDocument/2006/relationships" id="285" r:id="R70f690eaae254d97"/>
    <p:sldId xmlns:r="http://schemas.openxmlformats.org/officeDocument/2006/relationships" id="286" r:id="Rdf3d5e872d4b4a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229613e2344903" /><Relationship Type="http://schemas.openxmlformats.org/officeDocument/2006/relationships/slideMaster" Target="/ppt/slideMasters/slideMaster1.xml" Id="Rc11da329698b4b63" /><Relationship Type="http://schemas.openxmlformats.org/officeDocument/2006/relationships/notesMaster" Target="/ppt/notesMasters/notesMaster1.xml" Id="Rfc7c43e505664e3e" /><Relationship Type="http://schemas.openxmlformats.org/officeDocument/2006/relationships/presProps" Target="/ppt/presProps.xml" Id="R08f835d5118547cc" /><Relationship Type="http://schemas.openxmlformats.org/officeDocument/2006/relationships/tableStyles" Target="/ppt/tableStyles.xml" Id="Rfa6deb8a4de74236" /><Relationship Type="http://schemas.openxmlformats.org/officeDocument/2006/relationships/slide" Target="/ppt/slides/slide1.xml" Id="R58e8a00add7d4c63" /><Relationship Type="http://schemas.openxmlformats.org/officeDocument/2006/relationships/slide" Target="/ppt/slides/slide2.xml" Id="Rde32b61aa4ed40c4" /><Relationship Type="http://schemas.openxmlformats.org/officeDocument/2006/relationships/slide" Target="/ppt/slides/slide3.xml" Id="R8e13fce18d844c3f" /><Relationship Type="http://schemas.openxmlformats.org/officeDocument/2006/relationships/slide" Target="/ppt/slides/slide4.xml" Id="R8eb353aab5184c4a" /><Relationship Type="http://schemas.openxmlformats.org/officeDocument/2006/relationships/slide" Target="/ppt/slides/slide5.xml" Id="R3508dd7226cf43d7" /><Relationship Type="http://schemas.openxmlformats.org/officeDocument/2006/relationships/slide" Target="/ppt/slides/slide6.xml" Id="R920dbfd6b219490f" /><Relationship Type="http://schemas.openxmlformats.org/officeDocument/2006/relationships/slide" Target="/ppt/slides/slide7.xml" Id="R76514a16b0334494" /><Relationship Type="http://schemas.openxmlformats.org/officeDocument/2006/relationships/slide" Target="/ppt/slides/slide8.xml" Id="Rb8c1cd3bf0a24011" /><Relationship Type="http://schemas.openxmlformats.org/officeDocument/2006/relationships/slide" Target="/ppt/slides/slide9.xml" Id="R257cb31ccf4948c0" /><Relationship Type="http://schemas.openxmlformats.org/officeDocument/2006/relationships/slide" Target="/ppt/slides/slide10.xml" Id="Rc2226da38c0b4d3d" /><Relationship Type="http://schemas.openxmlformats.org/officeDocument/2006/relationships/slide" Target="/ppt/slides/slide11.xml" Id="R8671a090d6a14d66" /><Relationship Type="http://schemas.openxmlformats.org/officeDocument/2006/relationships/slide" Target="/ppt/slides/slide12.xml" Id="R01fd68342d3346b5" /><Relationship Type="http://schemas.openxmlformats.org/officeDocument/2006/relationships/slide" Target="/ppt/slides/slide13.xml" Id="R186f9c6daef346fe" /><Relationship Type="http://schemas.openxmlformats.org/officeDocument/2006/relationships/slide" Target="/ppt/slides/slide14.xml" Id="Rcfb2e3fac896414a" /><Relationship Type="http://schemas.openxmlformats.org/officeDocument/2006/relationships/slide" Target="/ppt/slides/slide15.xml" Id="R8c2b99b4898d4e51" /><Relationship Type="http://schemas.openxmlformats.org/officeDocument/2006/relationships/slide" Target="/ppt/slides/slide16.xml" Id="R027098de659a4e64" /><Relationship Type="http://schemas.openxmlformats.org/officeDocument/2006/relationships/slide" Target="/ppt/slides/slide17.xml" Id="R4ec36874a1ed4f90" /><Relationship Type="http://schemas.openxmlformats.org/officeDocument/2006/relationships/slide" Target="/ppt/slides/slide18.xml" Id="Rb6bb1b0e3fa84803" /><Relationship Type="http://schemas.openxmlformats.org/officeDocument/2006/relationships/slide" Target="/ppt/slides/slide19.xml" Id="R5070fd413fc44e7a" /><Relationship Type="http://schemas.openxmlformats.org/officeDocument/2006/relationships/slide" Target="/ppt/slides/slide20.xml" Id="Ra2f64d6ae5074ff2" /><Relationship Type="http://schemas.openxmlformats.org/officeDocument/2006/relationships/slide" Target="/ppt/slides/slide21.xml" Id="R2a840b2fe8434d9f" /><Relationship Type="http://schemas.openxmlformats.org/officeDocument/2006/relationships/slide" Target="/ppt/slides/slide22.xml" Id="R065f07252d2a46b2" /><Relationship Type="http://schemas.openxmlformats.org/officeDocument/2006/relationships/slide" Target="/ppt/slides/slide23.xml" Id="Rd1c40e41fc644aa3" /><Relationship Type="http://schemas.openxmlformats.org/officeDocument/2006/relationships/slide" Target="/ppt/slides/slide24.xml" Id="R92dd9885d2d549b7" /><Relationship Type="http://schemas.openxmlformats.org/officeDocument/2006/relationships/slide" Target="/ppt/slides/slide25.xml" Id="Rbf2f325d20ee44e4" /><Relationship Type="http://schemas.openxmlformats.org/officeDocument/2006/relationships/slide" Target="/ppt/slides/slide26.xml" Id="R4560f9c533a540b6" /><Relationship Type="http://schemas.openxmlformats.org/officeDocument/2006/relationships/slide" Target="/ppt/slides/slide27.xml" Id="R712fb804fbe346d0" /><Relationship Type="http://schemas.openxmlformats.org/officeDocument/2006/relationships/slide" Target="/ppt/slides/slide28.xml" Id="R3f19708e03fb4fa6" /><Relationship Type="http://schemas.openxmlformats.org/officeDocument/2006/relationships/slide" Target="/ppt/slides/slide29.xml" Id="R152eaeaa752043ec" /><Relationship Type="http://schemas.openxmlformats.org/officeDocument/2006/relationships/slide" Target="/ppt/slides/slide30.xml" Id="R70f690eaae254d97" /><Relationship Type="http://schemas.openxmlformats.org/officeDocument/2006/relationships/slide" Target="/ppt/slides/slide31.xml" Id="Rdf3d5e872d4b4a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a30b2c453146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5932d86274d00" /><Relationship Type="http://schemas.openxmlformats.org/officeDocument/2006/relationships/notesMaster" Target="/ppt/notesMasters/notesMaster1.xml" Id="R3744743804be49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c35f3c2e1c4545" /><Relationship Type="http://schemas.openxmlformats.org/officeDocument/2006/relationships/notesMaster" Target="/ppt/notesMasters/notesMaster1.xml" Id="R9bd195ab58564e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59a10bafad482a" /><Relationship Type="http://schemas.openxmlformats.org/officeDocument/2006/relationships/notesMaster" Target="/ppt/notesMasters/notesMaster1.xml" Id="R3067e4f1017747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3f8079d56d4b57" /><Relationship Type="http://schemas.openxmlformats.org/officeDocument/2006/relationships/notesMaster" Target="/ppt/notesMasters/notesMaster1.xml" Id="Rcf0d3deb468540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ac09aad43b4104" /><Relationship Type="http://schemas.openxmlformats.org/officeDocument/2006/relationships/notesMaster" Target="/ppt/notesMasters/notesMaster1.xml" Id="R7fd8935de339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dd26e79d814d0f" /><Relationship Type="http://schemas.openxmlformats.org/officeDocument/2006/relationships/notesMaster" Target="/ppt/notesMasters/notesMaster1.xml" Id="R9d9f53b02a7b48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d8f335591347d7" /><Relationship Type="http://schemas.openxmlformats.org/officeDocument/2006/relationships/notesMaster" Target="/ppt/notesMasters/notesMaster1.xml" Id="R7f35cbd502e849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aec0f227584fc0" /><Relationship Type="http://schemas.openxmlformats.org/officeDocument/2006/relationships/notesMaster" Target="/ppt/notesMasters/notesMaster1.xml" Id="R72d3b2b5551541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84785b4c7740b4" /><Relationship Type="http://schemas.openxmlformats.org/officeDocument/2006/relationships/notesMaster" Target="/ppt/notesMasters/notesMaster1.xml" Id="Ree800d0f21fb4f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6eaab58dfa4e9d" /><Relationship Type="http://schemas.openxmlformats.org/officeDocument/2006/relationships/notesMaster" Target="/ppt/notesMasters/notesMaster1.xml" Id="Rf4a64681746146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221e41bd5a4b49" /><Relationship Type="http://schemas.openxmlformats.org/officeDocument/2006/relationships/notesMaster" Target="/ppt/notesMasters/notesMaster1.xml" Id="R042a6e73c6d949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ab6f9a80514f01" /><Relationship Type="http://schemas.openxmlformats.org/officeDocument/2006/relationships/notesMaster" Target="/ppt/notesMasters/notesMaster1.xml" Id="R6b33afa572044f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38de2ed60b4cdd" /><Relationship Type="http://schemas.openxmlformats.org/officeDocument/2006/relationships/notesMaster" Target="/ppt/notesMasters/notesMaster1.xml" Id="R6dbb17e96c4943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06bfe1be9f4bee" /><Relationship Type="http://schemas.openxmlformats.org/officeDocument/2006/relationships/notesMaster" Target="/ppt/notesMasters/notesMaster1.xml" Id="R4ee8eb6d635241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85242aed124aff" /><Relationship Type="http://schemas.openxmlformats.org/officeDocument/2006/relationships/notesMaster" Target="/ppt/notesMasters/notesMaster1.xml" Id="Rb06ee55c64e448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92630739414dbe" /><Relationship Type="http://schemas.openxmlformats.org/officeDocument/2006/relationships/notesMaster" Target="/ppt/notesMasters/notesMaster1.xml" Id="R8ffe678daf6549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a7d2fa65bd4239" /><Relationship Type="http://schemas.openxmlformats.org/officeDocument/2006/relationships/notesMaster" Target="/ppt/notesMasters/notesMaster1.xml" Id="R780b5e9d019b46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33e9e6fe344c37" /><Relationship Type="http://schemas.openxmlformats.org/officeDocument/2006/relationships/notesMaster" Target="/ppt/notesMasters/notesMaster1.xml" Id="R2d3878944fed43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cd0c8f1ff242cb" /><Relationship Type="http://schemas.openxmlformats.org/officeDocument/2006/relationships/notesMaster" Target="/ppt/notesMasters/notesMaster1.xml" Id="R7c0328d9ff434e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d1fa8e46834a47" /><Relationship Type="http://schemas.openxmlformats.org/officeDocument/2006/relationships/notesMaster" Target="/ppt/notesMasters/notesMaster1.xml" Id="R54a470661e304e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453d2a0b1444dd6" /><Relationship Type="http://schemas.openxmlformats.org/officeDocument/2006/relationships/notesMaster" Target="/ppt/notesMasters/notesMaster1.xml" Id="R963b1e780b4d49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a39234b18f4dcc" /><Relationship Type="http://schemas.openxmlformats.org/officeDocument/2006/relationships/notesMaster" Target="/ppt/notesMasters/notesMaster1.xml" Id="R0b200e02e76642b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d9350d98684f7e" /><Relationship Type="http://schemas.openxmlformats.org/officeDocument/2006/relationships/notesMaster" Target="/ppt/notesMasters/notesMaster1.xml" Id="Ra603fbf3fc6441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c90677d2c894004" /><Relationship Type="http://schemas.openxmlformats.org/officeDocument/2006/relationships/notesMaster" Target="/ppt/notesMasters/notesMaster1.xml" Id="R67f1d1ea75b244c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cdb45d1fb3e44f1" /><Relationship Type="http://schemas.openxmlformats.org/officeDocument/2006/relationships/notesMaster" Target="/ppt/notesMasters/notesMaster1.xml" Id="R013303e5358043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ed585f7f4764042" /><Relationship Type="http://schemas.openxmlformats.org/officeDocument/2006/relationships/notesMaster" Target="/ppt/notesMasters/notesMaster1.xml" Id="Rcfa35cd4a3c745b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9e5282a906e4686" /><Relationship Type="http://schemas.openxmlformats.org/officeDocument/2006/relationships/notesMaster" Target="/ppt/notesMasters/notesMaster1.xml" Id="Re4fb570856ba4cb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92c1066dc9d4ef4" /><Relationship Type="http://schemas.openxmlformats.org/officeDocument/2006/relationships/notesMaster" Target="/ppt/notesMasters/notesMaster1.xml" Id="R19cade54ec1640c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2adedefb5564342" /><Relationship Type="http://schemas.openxmlformats.org/officeDocument/2006/relationships/notesMaster" Target="/ppt/notesMasters/notesMaster1.xml" Id="Rb3f907ce060047c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bc7bf5fd7f948a8" /><Relationship Type="http://schemas.openxmlformats.org/officeDocument/2006/relationships/notesMaster" Target="/ppt/notesMasters/notesMaster1.xml" Id="R0befe2e3ffa5477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424f27ba1a540bc" /><Relationship Type="http://schemas.openxmlformats.org/officeDocument/2006/relationships/notesMaster" Target="/ppt/notesMasters/notesMaster1.xml" Id="Ra167c6d9cf5342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https://www.consultant.ru/document/cons_doc_LAW_51057/ef9450d47396aa2c9646eddb2126895406ce5b04/</a:t>
            </a:r>
          </a:p>
          <a:p xmlns:a="http://schemas.openxmlformats.org/drawingml/2006/main">
            <a:r>
              <a:t>- https://meganorm.ru/mega_doc/norm_update_01032026/pravila/0/sp_256_1325800_2016_svod_pravil_elektroustanovki_zhilykh_i.html</a:t>
            </a:r>
          </a:p>
          <a:p xmlns:a="http://schemas.openxmlformats.org/drawingml/2006/main">
            <a:r>
              <a:t>- https://sudact.ru/law/prikaz-minstroia-rossii-ot-05102023-n-718pr/</a:t>
            </a:r>
          </a:p>
          <a:p xmlns:a="http://schemas.openxmlformats.org/drawingml/2006/main">
            <a:r>
              <a:t>- https://www.consultant.ru/document/cons_doc_LAW_534132/3805f0c338f7072faf3f4bab7b70ff9c37be35d0/</a:t>
            </a:r>
          </a:p>
          <a:p xmlns:a="http://schemas.openxmlformats.org/drawingml/2006/main">
            <a:r>
              <a:t>- https://proj66.ru/6641.ekb/ngp/6641.ngp2021.html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Нормативная карта проекта</a:t>
            </a:r>
          </a:p>
          <a:p xmlns:a="http://schemas.openxmlformats.org/drawingml/2006/main">
            <a:r>
              <a:t>Для пилота во дворе МКД действуют одновременно жилищные, электротехнические, пожарные и градостроительные требования.</a:t>
            </a:r>
          </a:p>
          <a:p xmlns:a="http://schemas.openxmlformats.org/drawingml/2006/main">
            <a:r>
              <a:t>1. Общее имущество МКД</a:t>
            </a:r>
          </a:p>
          <a:p xmlns:a="http://schemas.openxmlformats.org/drawingml/2006/main">
            <a:r>
              <a:t>• ЖК РФ ст. 36: земельный участок МКД и элементы благоустройства входят в общее имущество.</a:t>
            </a:r>
          </a:p>
          <a:p xmlns:a="http://schemas.openxmlformats.org/drawingml/2006/main">
            <a:r>
              <a:t>• ЖК РФ ст. 44: ОСС решает вопросы использования участка и благоустройства.</a:t>
            </a:r>
          </a:p>
          <a:p xmlns:a="http://schemas.openxmlformats.org/drawingml/2006/main">
            <a:r>
              <a:t>• Формулировка решения определяет требуемый кворум.</a:t>
            </a:r>
          </a:p>
          <a:p xmlns:a="http://schemas.openxmlformats.org/drawingml/2006/main">
            <a:r>
              <a:t>2. Электроснабжение и EVSE</a:t>
            </a:r>
          </a:p>
          <a:p xmlns:a="http://schemas.openxmlformats.org/drawingml/2006/main">
            <a:r>
              <a:t>• СП 256.1325800.2016 — расчет нагрузок, схемы питания и требования к зарядной инфраструктуре.</a:t>
            </a:r>
          </a:p>
          <a:p xmlns:a="http://schemas.openxmlformats.org/drawingml/2006/main">
            <a:r>
              <a:t>• Для EVSE запрещено объединять конечные цепи «шлейфом» на один аппарат защиты.</a:t>
            </a:r>
          </a:p>
          <a:p xmlns:a="http://schemas.openxmlformats.org/drawingml/2006/main">
            <a:r>
              <a:t>• Интеллектуальное управление нагрузкой допускается нормами.</a:t>
            </a:r>
          </a:p>
          <a:p xmlns:a="http://schemas.openxmlformats.org/drawingml/2006/main">
            <a:r>
              <a:t>3. Стоянки и пожарная безопасность</a:t>
            </a:r>
          </a:p>
          <a:p xmlns:a="http://schemas.openxmlformats.org/drawingml/2006/main">
            <a:r>
              <a:t>• СП 113.13330.2023 — размещение зарядных устройств, кабель, IP, колесоотбойники.</a:t>
            </a:r>
          </a:p>
          <a:p xmlns:a="http://schemas.openxmlformats.org/drawingml/2006/main">
            <a:r>
              <a:t>• СП 551.1311500.2026 — пожарная безопасность стоянок, включая электромобили.</a:t>
            </a:r>
          </a:p>
          <a:p xmlns:a="http://schemas.openxmlformats.org/drawingml/2006/main">
            <a:r>
              <a:t>• Совместное размещение EV и ДВС допускается.</a:t>
            </a:r>
          </a:p>
          <a:p xmlns:a="http://schemas.openxmlformats.org/drawingml/2006/main">
            <a:r>
              <a:t>4. Екатеринбург / Свердловская область</a:t>
            </a:r>
          </a:p>
          <a:p xmlns:a="http://schemas.openxmlformats.org/drawingml/2006/main">
            <a:r>
              <a:t>• Местные НГП Екатеринбурга задают обеспеченность парковками для нового жилья.</a:t>
            </a:r>
          </a:p>
          <a:p xmlns:a="http://schemas.openxmlformats.org/drawingml/2006/main">
            <a:r>
              <a:t>• ПЗЗ и правила благоустройства определяют размещение на участке.</a:t>
            </a:r>
          </a:p>
          <a:p xmlns:a="http://schemas.openxmlformats.org/drawingml/2006/main">
            <a:r>
              <a:t>• Для конкретного двора проверяются границы участка, сети и зеленые насаждения.</a:t>
            </a:r>
          </a:p>
          <a:p xmlns:a="http://schemas.openxmlformats.org/drawingml/2006/main">
            <a:r>
              <a:t>Рабочий проект + ОСС + технические условия</a:t>
            </a:r>
          </a:p>
          <a:p xmlns:a="http://schemas.openxmlformats.org/drawingml/2006/main">
            <a:r>
              <a:t>Не один документ, а согласованная цепочка требований.</a:t>
            </a:r>
          </a:p>
          <a:p xmlns:a="http://schemas.openxmlformats.org/drawingml/2006/main">
            <a:r>
              <a:t>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https://base.garant.ru/404987369/</a:t>
            </a:r>
          </a:p>
          <a:p xmlns:a="http://schemas.openxmlformats.org/drawingml/2006/main">
            <a:r>
              <a:t>- https://www.consultant.ru/document/cons_doc_LAW_534132/</a:t>
            </a:r>
          </a:p>
          <a:p xmlns:a="http://schemas.openxmlformats.org/drawingml/2006/main">
            <a:r>
              <a:t>- https://proj66.ru/_sp/sp_42.13330.2026.htm</a:t>
            </a:r>
          </a:p>
          <a:p xmlns:a="http://schemas.openxmlformats.org/drawingml/2006/main">
            <a:r>
              <a:t>- https://meganorm.ru/mega_doc/norm_update_01032026/pravila/0/sp_256_1325800_2016_svod_pravil_elektroustanovki_zhilykh_i.html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Новый МКД: сколько мест должно быть с зарядкой?</a:t>
            </a:r>
          </a:p>
          <a:p xmlns:a="http://schemas.openxmlformats.org/drawingml/2006/main">
            <a:r>
              <a:t>Ключевой нюанс 2026 года: популярная цифра «5%» относится к прежней редакции СП 42 и не должна переноситься в новый проект автоматически.</a:t>
            </a:r>
          </a:p>
          <a:p xmlns:a="http://schemas.openxmlformats.org/drawingml/2006/main">
            <a:r>
              <a:t>БЫЛО до 12.07.2026</a:t>
            </a:r>
          </a:p>
          <a:p xmlns:a="http://schemas.openxmlformats.org/drawingml/2006/main">
            <a:r>
              <a:t>СП 42.13330.2016</a:t>
            </a:r>
          </a:p>
          <a:p xmlns:a="http://schemas.openxmlformats.org/drawingml/2006/main">
            <a:r>
              <a:t>п. 11.44</a:t>
            </a:r>
          </a:p>
          <a:p xmlns:a="http://schemas.openxmlformats.org/drawingml/2006/main">
            <a:r>
              <a:t>не менее 5%</a:t>
            </a:r>
          </a:p>
          <a:p xmlns:a="http://schemas.openxmlformats.org/drawingml/2006/main">
            <a:r>
              <a:t>общего числа мест</a:t>
            </a:r>
          </a:p>
          <a:p xmlns:a="http://schemas.openxmlformats.org/drawingml/2006/main">
            <a:r>
              <a:t>для мест хранения электромобилей, оборудованных зарядными устройствами</a:t>
            </a:r>
          </a:p>
          <a:p xmlns:a="http://schemas.openxmlformats.org/drawingml/2006/main">
            <a:r>
              <a:t>СЕЙЧАС — СП 42.13330.2026</a:t>
            </a:r>
          </a:p>
          <a:p xmlns:a="http://schemas.openxmlformats.org/drawingml/2006/main">
            <a:r>
              <a:t>Введен с 12 июля 2026 года и заменил СП 42.13330.2016.</a:t>
            </a:r>
          </a:p>
          <a:p xmlns:a="http://schemas.openxmlformats.org/drawingml/2006/main">
            <a:r>
              <a:t>• </a:t>
            </a:r>
          </a:p>
          <a:p xmlns:a="http://schemas.openxmlformats.org/drawingml/2006/main">
            <a:r>
              <a:t>Раздел 8.131–8.139 регулирует размещение зарядных станций, но прежней универсальной квоты 5% в новом тексте нет.</a:t>
            </a:r>
          </a:p>
          <a:p xmlns:a="http://schemas.openxmlformats.org/drawingml/2006/main">
            <a:r>
              <a:t>• </a:t>
            </a:r>
          </a:p>
          <a:p xmlns:a="http://schemas.openxmlformats.org/drawingml/2006/main">
            <a:r>
              <a:t>Количество EV-мест необходимо сверять с действующими РНГП/МНГП/ПЗЗ и заданием на проектирование.</a:t>
            </a:r>
          </a:p>
          <a:p xmlns:a="http://schemas.openxmlformats.org/drawingml/2006/main">
            <a:r>
              <a:t>• </a:t>
            </a:r>
          </a:p>
          <a:p xmlns:a="http://schemas.openxmlformats.org/drawingml/2006/main">
            <a:r>
              <a:t>СП 256.1325800 требует учитывать зарядную инфраструктуру в расчетной электрической нагрузке здания.</a:t>
            </a:r>
          </a:p>
          <a:p xmlns:a="http://schemas.openxmlformats.org/drawingml/2006/main">
            <a:r>
              <a:t>• </a:t>
            </a:r>
          </a:p>
          <a:p xmlns:a="http://schemas.openxmlformats.org/drawingml/2006/main">
            <a:r>
              <a:t>Поэтому для нового МКД разумно заранее закладывать мощность, кабельные трассы и место в ВРУ — даже если EVSE устанавливаются поэтапно.</a:t>
            </a:r>
          </a:p>
          <a:p xmlns:a="http://schemas.openxmlformats.org/drawingml/2006/main">
            <a:r>
              <a:t>Для презентации УК: не заявлять «закон требует 5% сейчас» — корректнее: 5% было в СП 42.13330.2016; для проектов после 12.07.2026 проверяем СП 42.13330.2026 + местные нормы.</a:t>
            </a:r>
          </a:p>
          <a:p xmlns:a="http://schemas.openxmlformats.org/drawingml/2006/main">
            <a:r>
              <a:t>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https://meganorm.ru/mega_doc/norm_update_01032026/pravila/0/sp_256_1325800_2016_svod_pravil_elektroustanovki_zhilykh_i.html</a:t>
            </a:r>
          </a:p>
          <a:p xmlns:a="http://schemas.openxmlformats.org/drawingml/2006/main">
            <a:r>
              <a:t>- https://sudact.ru/law/prikaz-minstroia-rossii-ot-05102023-n-718pr/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Электротехника: нормы поддерживают выбранную архитектуру</a:t>
            </a:r>
          </a:p>
          <a:p xmlns:a="http://schemas.openxmlformats.org/drawingml/2006/main">
            <a:r>
              <a:t>Центральный шкаф + отдельная защищенная линия на каждую EVSE + программное управление мощностью соответствует логике действующего СП 256.</a:t>
            </a:r>
          </a:p>
          <a:p xmlns:a="http://schemas.openxmlformats.org/drawingml/2006/main">
            <a:r>
              <a:t>Отдельная цепь на EVSE</a:t>
            </a:r>
          </a:p>
          <a:p xmlns:a="http://schemas.openxmlformats.org/drawingml/2006/main">
            <a:r>
              <a:t>• Объединение цепей зарядных станций в групповые цепи / подключение «шлейфом» к одному аппарату защиты не допускается.</a:t>
            </a:r>
          </a:p>
          <a:p xmlns:a="http://schemas.openxmlformats.org/drawingml/2006/main">
            <a:r>
              <a:t>• Для каждой EVSE — свой аппарат защиты и конечная линия.</a:t>
            </a:r>
          </a:p>
          <a:p xmlns:a="http://schemas.openxmlformats.org/drawingml/2006/main">
            <a:r>
              <a:t>Расчет нагрузки</a:t>
            </a:r>
          </a:p>
          <a:p xmlns:a="http://schemas.openxmlformats.org/drawingml/2006/main">
            <a:r>
              <a:t>• СП 256 содержит коэффициенты спроса для зарядных станций в жилых зданиях.</a:t>
            </a:r>
          </a:p>
          <a:p xmlns:a="http://schemas.openxmlformats.org/drawingml/2006/main">
            <a:r>
              <a:t>• Это позволяет рассчитывать инфраструктуру не как простую сумму паспортных мощностей всех EVSE.</a:t>
            </a:r>
          </a:p>
          <a:p xmlns:a="http://schemas.openxmlformats.org/drawingml/2006/main">
            <a:r>
              <a:t>Load management</a:t>
            </a:r>
          </a:p>
          <a:p xmlns:a="http://schemas.openxmlformats.org/drawingml/2006/main">
            <a:r>
              <a:t>• СП 113 прямо допускает интеллектуальное управление: перераспределение мощности и снижение доступной мощности.</a:t>
            </a:r>
          </a:p>
          <a:p xmlns:a="http://schemas.openxmlformats.org/drawingml/2006/main">
            <a:r>
              <a:t>• Это совпадает с нашим central backend + WB-MGE.</a:t>
            </a:r>
          </a:p>
          <a:p xmlns:a="http://schemas.openxmlformats.org/drawingml/2006/main">
            <a:r>
              <a:t>Как это отражается в проекте</a:t>
            </a:r>
          </a:p>
          <a:p xmlns:a="http://schemas.openxmlformats.org/drawingml/2006/main">
            <a:r>
              <a:t>ВРУ / шкаф</a:t>
            </a:r>
          </a:p>
          <a:p xmlns:a="http://schemas.openxmlformats.org/drawingml/2006/main">
            <a:r>
              <a:t>QF0 + УЗИП</a:t>
            </a:r>
          </a:p>
          <a:p xmlns:a="http://schemas.openxmlformats.org/drawingml/2006/main">
            <a:r>
              <a:t>CE307</a:t>
            </a:r>
          </a:p>
          <a:p xmlns:a="http://schemas.openxmlformats.org/drawingml/2006/main">
            <a:r>
              <a:t>общий учет</a:t>
            </a:r>
          </a:p>
          <a:p xmlns:a="http://schemas.openxmlformats.org/drawingml/2006/main">
            <a:r>
              <a:t>АВДТ + K</a:t>
            </a:r>
          </a:p>
          <a:p xmlns:a="http://schemas.openxmlformats.org/drawingml/2006/main">
            <a:r>
              <a:t>на каждый EV</a:t>
            </a:r>
          </a:p>
          <a:p xmlns:a="http://schemas.openxmlformats.org/drawingml/2006/main">
            <a:r>
              <a:t>отдельный кабель</a:t>
            </a:r>
          </a:p>
          <a:p xmlns:a="http://schemas.openxmlformats.org/drawingml/2006/main">
            <a:r>
              <a:t>L/N/PE или 3Ф</a:t>
            </a:r>
          </a:p>
          <a:p xmlns:a="http://schemas.openxmlformats.org/drawingml/2006/main">
            <a:r>
              <a:t>EVSE</a:t>
            </a:r>
          </a:p>
          <a:p xmlns:a="http://schemas.openxmlformats.org/drawingml/2006/main">
            <a:r>
              <a:t>7 / 11 / 22 кВт</a:t>
            </a:r>
          </a:p>
          <a:p xmlns:a="http://schemas.openxmlformats.org/drawingml/2006/main">
            <a:r>
              <a:t>Практический вывод: отдельная 3-фазная линия до ближайшей 22-кВт EVSE и отдельные однофазные линии дальше по ряду — технически прозрачнее и соответствует требованию отдельных конечных цепей.</a:t>
            </a:r>
          </a:p>
          <a:p xmlns:a="http://schemas.openxmlformats.org/drawingml/2006/main">
            <a:r>
              <a:t>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https://protect.gost.ru/sp/details/63480a25-98f4-40a3-9de1-22134cb06528</a:t>
            </a:r>
          </a:p>
          <a:p xmlns:a="http://schemas.openxmlformats.org/drawingml/2006/main">
            <a:r>
              <a:t>- https://www.consultant.ru/document/cons_doc_LAW_534132/3805f0c338f7072faf3f4bab7b70ff9c37be35d0/</a:t>
            </a:r>
          </a:p>
          <a:p xmlns:a="http://schemas.openxmlformats.org/drawingml/2006/main">
            <a:r>
              <a:t>- https://sudact.ru/law/prikaz-minstroia-rossii-ot-05102023-n-718pr/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Открытая парковка: пожарная и эксплуатационная безопасность</a:t>
            </a:r>
          </a:p>
          <a:p xmlns:a="http://schemas.openxmlformats.org/drawingml/2006/main">
            <a:r>
              <a:t>Новая редакция пожарных требований с 01.06.2026 прямо учитывает электромобили и зарядные места.</a:t>
            </a:r>
          </a:p>
          <a:p xmlns:a="http://schemas.openxmlformats.org/drawingml/2006/main">
            <a:r>
              <a:t>СП 551.1311500.2026</a:t>
            </a:r>
          </a:p>
          <a:p xmlns:a="http://schemas.openxmlformats.org/drawingml/2006/main">
            <a:r>
              <a:t>п. 7.1</a:t>
            </a:r>
          </a:p>
          <a:p xmlns:a="http://schemas.openxmlformats.org/drawingml/2006/main">
            <a:r>
              <a:t>Стоянку электромобилей и подзаряжаемых гибридов, включая места с зарядкой, допускается предусматривать совместно с автомобилями ДВС.</a:t>
            </a:r>
          </a:p>
          <a:p xmlns:a="http://schemas.openxmlformats.org/drawingml/2006/main">
            <a:r>
              <a:t>Это напрямую поддерживает наш пилот: места остаются общими, без жесткого выделения только под EV.</a:t>
            </a:r>
          </a:p>
          <a:p xmlns:a="http://schemas.openxmlformats.org/drawingml/2006/main">
            <a:r>
              <a:t>СП 113: открытая стоянка</a:t>
            </a:r>
          </a:p>
          <a:p xmlns:a="http://schemas.openxmlformats.org/drawingml/2006/main">
            <a:r>
              <a:t>• Для зарядных устройств открытого типа — защита от осадков и твердых предметов не ниже IP54.</a:t>
            </a:r>
          </a:p>
          <a:p xmlns:a="http://schemas.openxmlformats.org/drawingml/2006/main">
            <a:r>
              <a:t>• Учитываются снег, дождь и сильный ветер.</a:t>
            </a:r>
          </a:p>
          <a:p xmlns:a="http://schemas.openxmlformats.org/drawingml/2006/main">
            <a:r>
              <a:t>• Планировка учитывает длину зарядного кабеля.</a:t>
            </a:r>
          </a:p>
          <a:p xmlns:a="http://schemas.openxmlformats.org/drawingml/2006/main">
            <a:r>
              <a:t>Механическая защита</a:t>
            </a:r>
          </a:p>
          <a:p xmlns:a="http://schemas.openxmlformats.org/drawingml/2006/main">
            <a:r>
              <a:t>• СП 113 предусматривает колесоотбойные/противоподкатные устройства при определенных схемах размещения.</a:t>
            </a:r>
          </a:p>
          <a:p xmlns:a="http://schemas.openxmlformats.org/drawingml/2006/main">
            <a:r>
              <a:t>• Для двора это логичнее, чем делать саму стойку массивной.</a:t>
            </a:r>
          </a:p>
          <a:p xmlns:a="http://schemas.openxmlformats.org/drawingml/2006/main">
            <a:r>
              <a:t>Наше конструктивное решение</a:t>
            </a:r>
          </a:p>
          <a:p xmlns:a="http://schemas.openxmlformats.org/drawingml/2006/main">
            <a:r>
              <a:t>• Шкаф и стойки на газоне у бордюра.</a:t>
            </a:r>
          </a:p>
          <a:p xmlns:a="http://schemas.openxmlformats.org/drawingml/2006/main">
            <a:r>
              <a:t>• Легкая стойка 40×40/50×30.</a:t>
            </a:r>
          </a:p>
          <a:p xmlns:a="http://schemas.openxmlformats.org/drawingml/2006/main">
            <a:r>
              <a:t>• Кабель 5 м обслуживает несколько соседних мест.</a:t>
            </a:r>
          </a:p>
          <a:p xmlns:a="http://schemas.openxmlformats.org/drawingml/2006/main">
            <a:r>
              <a:t>• Силовые трассы — в земле/ПНД.</a:t>
            </a:r>
          </a:p>
          <a:p xmlns:a="http://schemas.openxmlformats.org/drawingml/2006/main">
            <a:r>
              <a:t>Аварийное отключение</a:t>
            </a:r>
          </a:p>
          <a:p xmlns:a="http://schemas.openxmlformats.org/drawingml/2006/main">
            <a:r>
              <a:t>• Опциональный E-STOP на стойке — НЗ контакт → WBIO-DI-WD-14.</a:t>
            </a:r>
          </a:p>
          <a:p xmlns:a="http://schemas.openxmlformats.org/drawingml/2006/main">
            <a:r>
              <a:t>• Backend снимает соответствующий контактор.</a:t>
            </a:r>
          </a:p>
          <a:p xmlns:a="http://schemas.openxmlformats.org/drawingml/2006/main">
            <a:r>
              <a:t>• Обрыв линии также диагностируется как авария.</a:t>
            </a:r>
          </a:p>
          <a:p xmlns:a="http://schemas.openxmlformats.org/drawingml/2006/main">
            <a:r>
              <a:t>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https://proj66.ru/6641.ekb/ngp/6641.ngp2021.html</a:t>
            </a:r>
          </a:p>
          <a:p xmlns:a="http://schemas.openxmlformats.org/drawingml/2006/main">
            <a:r>
              <a:t>- https://www.consultant.ru/document/cons_doc_LAW_51057/ef9450d47396aa2c9646eddb2126895406ce5b04/</a:t>
            </a:r>
          </a:p>
          <a:p xmlns:a="http://schemas.openxmlformats.org/drawingml/2006/main">
            <a:r>
              <a:t>- https://base.garant.ru/35199683/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Екатеринбург: что дают местные нормативы</a:t>
            </a:r>
          </a:p>
          <a:p xmlns:a="http://schemas.openxmlformats.org/drawingml/2006/main">
            <a:r>
              <a:t>Текущие НГП города задают общее парковочное обеспечение нового жилья, но отдельной нормы доли EV-мест в тексте НГП 2021 года мы не нашли.</a:t>
            </a:r>
          </a:p>
          <a:p xmlns:a="http://schemas.openxmlformats.org/drawingml/2006/main">
            <a:r>
              <a:t>Решение ЕГД № 60/65</a:t>
            </a:r>
          </a:p>
          <a:p xmlns:a="http://schemas.openxmlformats.org/drawingml/2006/main">
            <a:r>
              <a:t>от 28.12.2021</a:t>
            </a:r>
          </a:p>
          <a:p xmlns:a="http://schemas.openxmlformats.org/drawingml/2006/main">
            <a:r>
              <a:t>Нормативы градостроительного проектирования Екатеринбурга</a:t>
            </a:r>
          </a:p>
          <a:p xmlns:a="http://schemas.openxmlformats.org/drawingml/2006/main">
            <a:r>
              <a:t>≥ 1 парковочного места</a:t>
            </a:r>
          </a:p>
          <a:p xmlns:a="http://schemas.openxmlformats.org/drawingml/2006/main">
            <a:r>
              <a:t>на 80 м² жилищного фонда</a:t>
            </a:r>
          </a:p>
          <a:p xmlns:a="http://schemas.openxmlformats.org/drawingml/2006/main">
            <a:r>
              <a:t>для многоквартирной жилой застройки</a:t>
            </a:r>
          </a:p>
          <a:p xmlns:a="http://schemas.openxmlformats.org/drawingml/2006/main">
            <a:r>
              <a:t>Отдельное количество EV-мест следует определять по федеральным СП, актуальным региональным/местным актам и заданию на проектирование.</a:t>
            </a:r>
          </a:p>
          <a:p xmlns:a="http://schemas.openxmlformats.org/drawingml/2006/main">
            <a:r>
              <a:t>Для существующего двора</a:t>
            </a:r>
          </a:p>
          <a:p xmlns:a="http://schemas.openxmlformats.org/drawingml/2006/main">
            <a:r>
              <a:t>Сначала проверяем границы земельного участка МКД. Если стойки и шкаф попадают на общее имущество — решение принимает ОСС; если за границей участка — нужен иной правовой титул/согласование.</a:t>
            </a:r>
          </a:p>
          <a:p xmlns:a="http://schemas.openxmlformats.org/drawingml/2006/main">
            <a:r>
              <a:t>Газон и благоустройство</a:t>
            </a:r>
          </a:p>
          <a:p xmlns:a="http://schemas.openxmlformats.org/drawingml/2006/main">
            <a:r>
              <a:t>Размещение на газоне у бордюра снижает стоимость трассы, но нужно учитывать правила благоустройства, зеленые насаждения, корневые зоны и существующие инженерные сети.</a:t>
            </a:r>
          </a:p>
          <a:p xmlns:a="http://schemas.openxmlformats.org/drawingml/2006/main">
            <a:r>
              <a:t>Почему наша схема удобна для согласования</a:t>
            </a:r>
          </a:p>
          <a:p xmlns:a="http://schemas.openxmlformats.org/drawingml/2006/main">
            <a:r>
              <a:t>Стойка не закрепляет парковочное место за конкретным владельцем EV: одна EVSE с 5-метровым кабелем доступна с нескольких общих мест. Это уменьшает конфликт вокруг дефицитного парковочного пространства.</a:t>
            </a:r>
          </a:p>
          <a:p xmlns:a="http://schemas.openxmlformats.org/drawingml/2006/main">
            <a:r>
              <a:t>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https://www.consultant.ru/document/cons_doc_LAW_51057/ef9450d47396aa2c9646eddb2126895406ce5b04/</a:t>
            </a:r>
          </a:p>
          <a:p xmlns:a="http://schemas.openxmlformats.org/drawingml/2006/main">
            <a:r>
              <a:t>- https://meganorm.ru/mega_doc/norm_update_01032026/pravila/0/sp_256_1325800_2016_svod_pravil_elektroustanovki_zhilykh_i.html</a:t>
            </a:r>
          </a:p>
          <a:p xmlns:a="http://schemas.openxmlformats.org/drawingml/2006/main">
            <a:r>
              <a:t>- https://proj66.ru/6641.ekb/ngp/6641.ngp2021.html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Что выносить на ОСС и в рабочий проект</a:t>
            </a:r>
          </a:p>
          <a:p xmlns:a="http://schemas.openxmlformats.org/drawingml/2006/main">
            <a:r>
              <a:t>Задача — заранее разделить юридические решения собственников и технические решения проектировщика/энергетика.</a:t>
            </a:r>
          </a:p>
          <a:p xmlns:a="http://schemas.openxmlformats.org/drawingml/2006/main">
            <a:r>
              <a:t>ОСС собственников</a:t>
            </a:r>
          </a:p>
          <a:p xmlns:a="http://schemas.openxmlformats.org/drawingml/2006/main">
            <a:r>
              <a:t>• место шкафа и стоек</a:t>
            </a:r>
          </a:p>
          <a:p xmlns:a="http://schemas.openxmlformats.org/drawingml/2006/main">
            <a:r>
              <a:t>• использование участка</a:t>
            </a:r>
          </a:p>
          <a:p xmlns:a="http://schemas.openxmlformats.org/drawingml/2006/main">
            <a:r>
              <a:t>• источник финансирования</a:t>
            </a:r>
          </a:p>
          <a:p xmlns:a="http://schemas.openxmlformats.org/drawingml/2006/main">
            <a:r>
              <a:t>• правила доступа</a:t>
            </a:r>
          </a:p>
          <a:p xmlns:a="http://schemas.openxmlformats.org/drawingml/2006/main">
            <a:r>
              <a:t>• полномочия УК</a:t>
            </a:r>
          </a:p>
          <a:p xmlns:a="http://schemas.openxmlformats.org/drawingml/2006/main">
            <a:r>
              <a:t>• порядок оплаты электроэнергии</a:t>
            </a:r>
          </a:p>
          <a:p xmlns:a="http://schemas.openxmlformats.org/drawingml/2006/main">
            <a:r>
              <a:t>УК / эксплуатация</a:t>
            </a:r>
          </a:p>
          <a:p xmlns:a="http://schemas.openxmlformats.org/drawingml/2006/main">
            <a:r>
              <a:t>• техническое обслуживание</a:t>
            </a:r>
          </a:p>
          <a:p xmlns:a="http://schemas.openxmlformats.org/drawingml/2006/main">
            <a:r>
              <a:t>• аварийные регламенты</a:t>
            </a:r>
          </a:p>
          <a:p xmlns:a="http://schemas.openxmlformats.org/drawingml/2006/main">
            <a:r>
              <a:t>• доступ в шкаф</a:t>
            </a:r>
          </a:p>
          <a:p xmlns:a="http://schemas.openxmlformats.org/drawingml/2006/main">
            <a:r>
              <a:t>• учет и выгрузка в 1С</a:t>
            </a:r>
          </a:p>
          <a:p xmlns:a="http://schemas.openxmlformats.org/drawingml/2006/main">
            <a:r>
              <a:t>• реагирование на SPD/E-STOP</a:t>
            </a:r>
          </a:p>
          <a:p xmlns:a="http://schemas.openxmlformats.org/drawingml/2006/main">
            <a:r>
              <a:t>• уборка снега вокруг стоек</a:t>
            </a:r>
          </a:p>
          <a:p xmlns:a="http://schemas.openxmlformats.org/drawingml/2006/main">
            <a:r>
              <a:t>Энергетик / проектировщик</a:t>
            </a:r>
          </a:p>
          <a:p xmlns:a="http://schemas.openxmlformats.org/drawingml/2006/main">
            <a:r>
              <a:t>• доступная мощность</a:t>
            </a:r>
          </a:p>
          <a:p xmlns:a="http://schemas.openxmlformats.org/drawingml/2006/main">
            <a:r>
              <a:t>• точка подключения</a:t>
            </a:r>
          </a:p>
          <a:p xmlns:a="http://schemas.openxmlformats.org/drawingml/2006/main">
            <a:r>
              <a:t>• токи КЗ / заземление</a:t>
            </a:r>
          </a:p>
          <a:p xmlns:a="http://schemas.openxmlformats.org/drawingml/2006/main">
            <a:r>
              <a:t>• АВДТ на каждую EVSE</a:t>
            </a:r>
          </a:p>
          <a:p xmlns:a="http://schemas.openxmlformats.org/drawingml/2006/main">
            <a:r>
              <a:t>• УЗИП + сигнализация</a:t>
            </a:r>
          </a:p>
          <a:p xmlns:a="http://schemas.openxmlformats.org/drawingml/2006/main">
            <a:r>
              <a:t>• кабели, ПНД, фундамент</a:t>
            </a:r>
          </a:p>
          <a:p xmlns:a="http://schemas.openxmlformats.org/drawingml/2006/main">
            <a:r>
              <a:t>Жители / владельцы EV</a:t>
            </a:r>
          </a:p>
          <a:p xmlns:a="http://schemas.openxmlformats.org/drawingml/2006/main">
            <a:r>
              <a:t>• PWA/NFC/QR</a:t>
            </a:r>
          </a:p>
          <a:p xmlns:a="http://schemas.openxmlformats.org/drawingml/2006/main">
            <a:r>
              <a:t>• договор/лицевой счет</a:t>
            </a:r>
          </a:p>
          <a:p xmlns:a="http://schemas.openxmlformats.org/drawingml/2006/main">
            <a:r>
              <a:t>• сессии и начисления</a:t>
            </a:r>
          </a:p>
          <a:p xmlns:a="http://schemas.openxmlformats.org/drawingml/2006/main">
            <a:r>
              <a:t>• общие парковочные места</a:t>
            </a:r>
          </a:p>
          <a:p xmlns:a="http://schemas.openxmlformats.org/drawingml/2006/main">
            <a:r>
              <a:t>• правила кабеля 5 м</a:t>
            </a:r>
          </a:p>
          <a:p xmlns:a="http://schemas.openxmlformats.org/drawingml/2006/main">
            <a:r>
              <a:t>• ответственность за разъем</a:t>
            </a:r>
          </a:p>
          <a:p xmlns:a="http://schemas.openxmlformats.org/drawingml/2006/main">
            <a:r>
              <a:t>Правильная последовательность: границы участка → ОСС → электротехническое обследование → рабочий проект → согласования → монтаж → измерения и ввод в эксплуатацию.</a:t>
            </a:r>
          </a:p>
          <a:p xmlns:a="http://schemas.openxmlformats.org/drawingml/2006/main">
            <a:r>
              <a:t>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https://www.consultant.ru/document/cons_doc_LAW_51057/ef9450d47396aa2c9646eddb2126895406ce5b04/</a:t>
            </a:r>
          </a:p>
          <a:p xmlns:a="http://schemas.openxmlformats.org/drawingml/2006/main">
            <a:r>
              <a:t>- https://www.consultant.ru/document/cons_doc_LAW_542125/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Пилот без ОСС: муниципальная площадка</a:t>
            </a:r>
          </a:p>
          <a:p xmlns:a="http://schemas.openxmlformats.org/drawingml/2006/main">
            <a:r>
              <a:t>Рабочая модель для первого запуска: не использовать общее имущество МКД, а разместить шкаф и стойки на отдельной муниципальной/публичной территории.</a:t>
            </a:r>
          </a:p>
          <a:p xmlns:a="http://schemas.openxmlformats.org/drawingml/2006/main">
            <a:r>
              <a:t>УСЛОВИЕ «БЕЗ ОСС»</a:t>
            </a:r>
          </a:p>
          <a:p xmlns:a="http://schemas.openxmlformats.org/drawingml/2006/main">
            <a:r>
              <a:t>НЕ используем</a:t>
            </a:r>
          </a:p>
          <a:p xmlns:a="http://schemas.openxmlformats.org/drawingml/2006/main">
            <a:r>
              <a:t>• земельный участок МКД</a:t>
            </a:r>
          </a:p>
          <a:p xmlns:a="http://schemas.openxmlformats.org/drawingml/2006/main">
            <a:r>
              <a:t>• ВРУ / щитовую МКД</a:t>
            </a:r>
          </a:p>
          <a:p xmlns:a="http://schemas.openxmlformats.org/drawingml/2006/main">
            <a:r>
              <a:t>• общедомовой кабель</a:t>
            </a:r>
          </a:p>
          <a:p xmlns:a="http://schemas.openxmlformats.org/drawingml/2006/main">
            <a:r>
              <a:t>• фасад и конструкции дома</a:t>
            </a:r>
          </a:p>
          <a:p xmlns:a="http://schemas.openxmlformats.org/drawingml/2006/main">
            <a:r>
              <a:t>Если хотя бы один из этих элементов задействован — вопрос общего имущества и ОСС возвращается.</a:t>
            </a:r>
          </a:p>
          <a:p xmlns:a="http://schemas.openxmlformats.org/drawingml/2006/main">
            <a:r>
              <a:t>МУНИЦИПАЛЬНЫЙ ПИЛОТ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Площадка</a:t>
            </a:r>
          </a:p>
          <a:p xmlns:a="http://schemas.openxmlformats.org/drawingml/2006/main">
            <a:r>
              <a:t>газон / техническая полоса у муниципальной парковки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Инфраструктура</a:t>
            </a:r>
          </a:p>
          <a:p xmlns:a="http://schemas.openxmlformats.org/drawingml/2006/main">
            <a:r>
              <a:t>шкаф, стойки, кабели и EVSE не относятся к общему имуществу МКД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Парковка</a:t>
            </a:r>
          </a:p>
          <a:p xmlns:a="http://schemas.openxmlformats.org/drawingml/2006/main">
            <a:r>
              <a:t>места остаются общими: EV + ДВС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Эксплуатация</a:t>
            </a:r>
          </a:p>
          <a:p xmlns:a="http://schemas.openxmlformats.org/drawingml/2006/main">
            <a:r>
              <a:t>backend и сервис можно передать отдельному оператору / ИП</a:t>
            </a:r>
          </a:p>
          <a:p xmlns:a="http://schemas.openxmlformats.org/drawingml/2006/main">
            <a:r>
              <a:t>Юридическая граница пилота определяется не расстоянием до дома, а правом на землю и тем, чьи электрические сети используются.</a:t>
            </a:r>
          </a:p>
          <a:p xmlns:a="http://schemas.openxmlformats.org/drawingml/2006/main">
            <a:r>
              <a:t>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https://base.garant.ru/35136476/e88847e78ccd9fdb54482c7fa15982bf/</a:t>
            </a:r>
          </a:p>
          <a:p xmlns:a="http://schemas.openxmlformats.org/drawingml/2006/main">
            <a:r>
              <a:t>- https://base.garant.ru/35136476/24310d2f46ac07538bfce5bbf93e66b2/</a:t>
            </a:r>
          </a:p>
          <a:p xmlns:a="http://schemas.openxmlformats.org/drawingml/2006/main">
            <a:r>
              <a:t>- https://www.pravo.gov66.ru/2998/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Роль администрации района</a:t>
            </a:r>
          </a:p>
          <a:p xmlns:a="http://schemas.openxmlformats.org/drawingml/2006/main">
            <a:r>
              <a:t>Для пилота районная администрация — удобная точка входа: она работает с территорией района, благоустройством и освещением, но земельное оформление нужно вести через компетентный орган.</a:t>
            </a:r>
          </a:p>
          <a:p xmlns:a="http://schemas.openxmlformats.org/drawingml/2006/main">
            <a:r>
              <a:t>Администрация района</a:t>
            </a:r>
          </a:p>
          <a:p xmlns:a="http://schemas.openxmlformats.org/drawingml/2006/main">
            <a:r>
              <a:t>• инициирует пилот</a:t>
            </a:r>
          </a:p>
          <a:p xmlns:a="http://schemas.openxmlformats.org/drawingml/2006/main">
            <a:r>
              <a:t>• подбирает 1–3 площадки</a:t>
            </a:r>
          </a:p>
          <a:p xmlns:a="http://schemas.openxmlformats.org/drawingml/2006/main">
            <a:r>
              <a:t>• координирует благоустройство</a:t>
            </a:r>
          </a:p>
          <a:p xmlns:a="http://schemas.openxmlformats.org/drawingml/2006/main">
            <a:r>
              <a:t>• помогает собрать городские службы</a:t>
            </a:r>
          </a:p>
          <a:p xmlns:a="http://schemas.openxmlformats.org/drawingml/2006/main">
            <a:r>
              <a:t>• формирует общественную поддержку</a:t>
            </a:r>
          </a:p>
          <a:p xmlns:a="http://schemas.openxmlformats.org/drawingml/2006/main">
            <a:r>
              <a:t>Земельно-имущественный блок</a:t>
            </a:r>
          </a:p>
          <a:p xmlns:a="http://schemas.openxmlformats.org/drawingml/2006/main">
            <a:r>
              <a:t>• проверяет кадастровый статус</a:t>
            </a:r>
          </a:p>
          <a:p xmlns:a="http://schemas.openxmlformats.org/drawingml/2006/main">
            <a:r>
              <a:t>• определяет собственника / распорядителя</a:t>
            </a:r>
          </a:p>
          <a:p xmlns:a="http://schemas.openxmlformats.org/drawingml/2006/main">
            <a:r>
              <a:t>• оформляет законное основание размещения</a:t>
            </a:r>
          </a:p>
          <a:p xmlns:a="http://schemas.openxmlformats.org/drawingml/2006/main">
            <a:r>
              <a:t>• для неразграниченной земли учитывается областное перераспределение полномочий</a:t>
            </a:r>
          </a:p>
          <a:p xmlns:a="http://schemas.openxmlformats.org/drawingml/2006/main">
            <a:r>
              <a:t>Энергетик / сетевая организация</a:t>
            </a:r>
          </a:p>
          <a:p xmlns:a="http://schemas.openxmlformats.org/drawingml/2006/main">
            <a:r>
              <a:t>• точка подключения</a:t>
            </a:r>
          </a:p>
          <a:p xmlns:a="http://schemas.openxmlformats.org/drawingml/2006/main">
            <a:r>
              <a:t>• доступная мощность</a:t>
            </a:r>
          </a:p>
          <a:p xmlns:a="http://schemas.openxmlformats.org/drawingml/2006/main">
            <a:r>
              <a:t>• учет и ТУ при необходимости</a:t>
            </a:r>
          </a:p>
          <a:p xmlns:a="http://schemas.openxmlformats.org/drawingml/2006/main">
            <a:r>
              <a:t>• схема заземления / токи КЗ</a:t>
            </a:r>
          </a:p>
          <a:p xmlns:a="http://schemas.openxmlformats.org/drawingml/2006/main">
            <a:r>
              <a:t>• приемка электрической части</a:t>
            </a:r>
          </a:p>
          <a:p xmlns:a="http://schemas.openxmlformats.org/drawingml/2006/main">
            <a:r>
              <a:t>Почему не писать в проекте «район просто выделяет землю»</a:t>
            </a:r>
          </a:p>
          <a:p xmlns:a="http://schemas.openxmlformats.org/drawingml/2006/main">
            <a:r>
              <a:t>Решение ЕГД №15/6 закрепляет за администрациями районов участие в благоустройстве и освещении. Но Закон Свердловской области №98-ОЗ перераспределил часть полномочий по распоряжению земельными участками, государственная собственность на которые не разграничена. Поэтому безопасная формула: «районная администрация инициирует и согласует площадку, а право на размещение оформляет уполномоченный орган в зависимости от статуса земли».</a:t>
            </a:r>
          </a:p>
          <a:p xmlns:a="http://schemas.openxmlformats.org/drawingml/2006/main">
            <a:r>
              <a:t>Район = инициатор и координатор</a:t>
            </a:r>
          </a:p>
          <a:p xmlns:a="http://schemas.openxmlformats.org/drawingml/2006/main">
            <a:r>
              <a:t>Земля = отдельная юридическая проверка</a:t>
            </a:r>
          </a:p>
          <a:p xmlns:a="http://schemas.openxmlformats.org/drawingml/2006/main">
            <a:r>
              <a:t>Не обещать конкретный титул до проверки кадастра</a:t>
            </a:r>
          </a:p>
          <a:p xmlns:a="http://schemas.openxmlformats.org/drawingml/2006/main">
            <a:r>
              <a:t>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https://www.consultant.ru/document/cons_doc_LAW_61763/eeb8f51df68fc096ecadf011932a85ef5e6a0ee1/</a:t>
            </a:r>
          </a:p>
          <a:p xmlns:a="http://schemas.openxmlformats.org/drawingml/2006/main">
            <a:r>
              <a:t>- https://www.consultant.ru/document/cons_doc_LAW_144624/ab3273e757a9e718cbb3741596bc36eb8138e4f6/</a:t>
            </a:r>
          </a:p>
          <a:p xmlns:a="http://schemas.openxmlformats.org/drawingml/2006/main">
            <a:r>
              <a:t>- https://www.consultant.ru/law/podborki/zakupki_u_edinstvennogo_postavschika_p.4_st93_44fz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Схема собственности и эксплуатации пилота</a:t>
            </a:r>
          </a:p>
          <a:p xmlns:a="http://schemas.openxmlformats.org/drawingml/2006/main">
            <a:r>
              <a:t>Чтобы не создавать спор о частном использовании муниципальной земли, ИП лучше не передавать участок: он обслуживает цифровую часть и оборудование по договору.</a:t>
            </a:r>
          </a:p>
          <a:p xmlns:a="http://schemas.openxmlformats.org/drawingml/2006/main">
            <a:r>
              <a:t>АДМИНИСТРАЦИЯ / ГОРОД</a:t>
            </a:r>
          </a:p>
          <a:p xmlns:a="http://schemas.openxmlformats.org/drawingml/2006/main">
            <a:r>
              <a:t>площадка и правовое основание</a:t>
            </a:r>
          </a:p>
          <a:p xmlns:a="http://schemas.openxmlformats.org/drawingml/2006/main">
            <a:r>
              <a:t>координация служб</a:t>
            </a:r>
          </a:p>
          <a:p xmlns:a="http://schemas.openxmlformats.org/drawingml/2006/main">
            <a:r>
              <a:t>условия пилота</a:t>
            </a:r>
          </a:p>
          <a:p xmlns:a="http://schemas.openxmlformats.org/drawingml/2006/main">
            <a:r>
              <a:t>прием результатов</a:t>
            </a:r>
          </a:p>
          <a:p xmlns:a="http://schemas.openxmlformats.org/drawingml/2006/main">
            <a:r>
              <a:t>ПИЛОТНАЯ ИНФРАСТРУКТУРА</a:t>
            </a:r>
          </a:p>
          <a:p xmlns:a="http://schemas.openxmlformats.org/drawingml/2006/main">
            <a:r>
              <a:t>шкаф + CE307</a:t>
            </a:r>
          </a:p>
          <a:p xmlns:a="http://schemas.openxmlformats.org/drawingml/2006/main">
            <a:r>
              <a:t>WB-MGE + WBIO</a:t>
            </a:r>
          </a:p>
          <a:p xmlns:a="http://schemas.openxmlformats.org/drawingml/2006/main">
            <a:r>
              <a:t>АВДТ + контакторы</a:t>
            </a:r>
          </a:p>
          <a:p xmlns:a="http://schemas.openxmlformats.org/drawingml/2006/main">
            <a:r>
              <a:t>стойки + EVSE</a:t>
            </a:r>
          </a:p>
          <a:p xmlns:a="http://schemas.openxmlformats.org/drawingml/2006/main">
            <a:r>
              <a:t>ИП-ОПЕРАТОР</a:t>
            </a:r>
          </a:p>
          <a:p xmlns:a="http://schemas.openxmlformats.org/drawingml/2006/main">
            <a:r>
              <a:t>Go backend / PostgreSQL</a:t>
            </a:r>
          </a:p>
          <a:p xmlns:a="http://schemas.openxmlformats.org/drawingml/2006/main">
            <a:r>
              <a:t>PWA + NFC / QR</a:t>
            </a:r>
          </a:p>
          <a:p xmlns:a="http://schemas.openxmlformats.org/drawingml/2006/main">
            <a:r>
              <a:t>мониторинг и обновления</a:t>
            </a:r>
          </a:p>
          <a:p xmlns:a="http://schemas.openxmlformats.org/drawingml/2006/main">
            <a:r>
              <a:t>отчеты по пилоту</a:t>
            </a:r>
          </a:p>
          <a:p xmlns:a="http://schemas.openxmlformats.org/drawingml/2006/main">
            <a:r>
              <a:t>Договорная логика</a:t>
            </a:r>
          </a:p>
          <a:p xmlns:a="http://schemas.openxmlformats.org/drawingml/2006/main">
            <a:r>
              <a:t>Сервис ИП</a:t>
            </a:r>
          </a:p>
          <a:p xmlns:a="http://schemas.openxmlformats.org/drawingml/2006/main">
            <a:r>
              <a:t>Backend, мониторинг, обновления, резервное копирование, поддержка API и выгрузка данных. Цена и способ закупки определяет заказчик по 44-ФЗ; «1 рубль» — не самостоятельное основание для выбора поставщика.</a:t>
            </a:r>
          </a:p>
          <a:p xmlns:a="http://schemas.openxmlformats.org/drawingml/2006/main">
            <a:r>
              <a:t>Без vendor lock-in</a:t>
            </a:r>
          </a:p>
          <a:p xmlns:a="http://schemas.openxmlformats.org/drawingml/2006/main">
            <a:r>
              <a:t>Открытый Modbus, документированный API, экспорт БД и возможность сменить оператора без замены шкафа/EVSE. Это снижает риск для администрации после завершения пилота.</a:t>
            </a:r>
          </a:p>
          <a:p xmlns:a="http://schemas.openxmlformats.org/drawingml/2006/main">
            <a:r>
              <a:t>Предпочтительно: инфраструктура остается у публичной стороны/балансодержателя, ИП получает только договор на обслуживание — без передачи земли во владение или пользование.</a:t>
            </a:r>
          </a:p>
          <a:p xmlns:a="http://schemas.openxmlformats.org/drawingml/2006/main">
            <a:r>
              <a:t>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https://base.garant.ru/35136476/e88847e78ccd9fdb54482c7fa15982bf/</a:t>
            </a:r>
          </a:p>
          <a:p xmlns:a="http://schemas.openxmlformats.org/drawingml/2006/main">
            <a:r>
              <a:t>- https://www.pravo.gov66.ru/2998/</a:t>
            </a:r>
          </a:p>
          <a:p xmlns:a="http://schemas.openxmlformats.org/drawingml/2006/main">
            <a:r>
              <a:t>- https://www.consultant.ru/document/cons_doc_LAW_51057/ef9450d47396aa2c9646eddb2126895406ce5b04/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Дорожная карта пилота через администрацию района</a:t>
            </a:r>
          </a:p>
          <a:p xmlns:a="http://schemas.openxmlformats.org/drawingml/2006/main">
            <a:r>
              <a:t>Цель первого запуска — получить работающий объект и реальные данные, не закрепляя парковочные места за отдельными жителями и не используя общее имущество МКД.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Площадка</a:t>
            </a:r>
          </a:p>
          <a:p xmlns:a="http://schemas.openxmlformats.org/drawingml/2006/main">
            <a:r>
              <a:t>Район предлагает 1–3 муниципальные локации у парковочного кармана.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Правовой статус</a:t>
            </a:r>
          </a:p>
          <a:p xmlns:a="http://schemas.openxmlformats.org/drawingml/2006/main">
            <a:r>
              <a:t>Кадастр, собственник/распорядитель, сети, зеленые насаждения, основание размещения.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Энергетика</a:t>
            </a:r>
          </a:p>
          <a:p xmlns:a="http://schemas.openxmlformats.org/drawingml/2006/main">
            <a:r>
              <a:t>Точка подключения, доступная мощность, учет, ТУ при необходимости.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Проект</a:t>
            </a:r>
          </a:p>
          <a:p xmlns:a="http://schemas.openxmlformats.org/drawingml/2006/main">
            <a:r>
              <a:t>Шкаф + ближайшая 3Ф EVSE + дальнейшие 1Ф стойки; индивидуальная защита линий.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Монтаж</a:t>
            </a:r>
          </a:p>
          <a:p xmlns:a="http://schemas.openxmlformats.org/drawingml/2006/main">
            <a:r>
              <a:t>Преимущественно по газону; ПНД/прокол без вскрытия асфальта; легкие стойки.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>Опытная эксплуатация</a:t>
            </a:r>
          </a:p>
          <a:p xmlns:a="http://schemas.openxmlformats.org/drawingml/2006/main">
            <a:r>
              <a:t>NFC/QR, backend, журнал аварий, энергия, сессии, занятость, зимняя надежность.</a:t>
            </a:r>
          </a:p>
          <a:p xmlns:a="http://schemas.openxmlformats.org/drawingml/2006/main">
            <a:r>
              <a:t>Критерий успеха пилота: не «поставили зарядку», а получили измеримые данные — спрос, кВт·ч, надежность зимой, стоимость обслуживания, конфликты с парковкой и реальную потребность в масштабировании.</a:t>
            </a:r>
          </a:p>
          <a:p xmlns:a="http://schemas.openxmlformats.org/drawingml/2006/main">
            <a:r>
              <a:t>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https://base.garant.ru/411031962/ — Письмо Минстроя России от 21.05.2024 № 28335-АФ/04: индивидуальные дополнительные услуги могут включаться в платежный документ конкретного собственника по отдельному договору, если управляющая организация является исполнителем либо агентом исполнителя.</a:t>
            </a:r>
          </a:p>
          <a:p xmlns:a="http://schemas.openxmlformats.org/drawingml/2006/main">
            <a:r>
              <a:t>https://www.consultant.ru/document/cons_doc_LAW_305/9eb0f127ead4dc57e7d0a9d4954cf264c4b3cea8/ — Закон РФ № 2300-1, ст. 16: платные дополнительные услуги требуют согласия потребителя; недопустимы навязанные услуги и условия, ущемляющие права потребителя.</a:t>
            </a:r>
          </a:p>
          <a:p xmlns:a="http://schemas.openxmlformats.org/drawingml/2006/main">
            <a:r>
              <a:t>https://www.consultant.ru/document/cons_doc_LAW_5142/912ecd30f8655752c373ce4bde835b3832154b11/ — ГК РФ, ст. 438: акцепт оферты и совершение действий по её исполнению.</a:t>
            </a:r>
          </a:p>
          <a:p xmlns:a="http://schemas.openxmlformats.org/drawingml/2006/main">
            <a:r>
              <a:t>https://www.consultant.ru/document/cons_doc_LAW_51057/ef9450d47396aa2c9646eddb2126895406ce5b04/ — ЖК РФ, ст. 36: общее имущество принадлежит собственникам помещений на праве общей долевой собственности.</a:t>
            </a:r>
          </a:p>
          <a:p xmlns:a="http://schemas.openxmlformats.org/drawingml/2006/main">
            <a:r>
              <a:t>https://www.consultant.ru/document/cons_doc_LAW_51057/b50101afd08dee7f41764d59277937373a2f7655/ — ЖК РФ, ст. 44: решения об использовании и благоустройстве общего имущества принимаются ОСС.</a:t>
            </a:r>
          </a:p>
          <a:p xmlns:a="http://schemas.openxmlformats.org/drawingml/2006/main">
            <a:r>
              <a:t>https://www.consultant.ru/document/cons_doc_LAW_51057/14e9738be002fe3ab76c0d580b863aac1ac65fb7/ — ЖК РФ, ст. 162: договор управления определяет состав общего имущества, перечень работ/услуг и порядок платы.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Кто и как платит: без ОДН и без перекрёстного субсидирования</a:t>
            </a:r>
          </a:p>
          <a:p xmlns:a="http://schemas.openxmlformats.org/drawingml/2006/main">
            <a:r>
              <a:t>Пользователь EV оплачивает только свою зарядку и добровольно — развитие инфраструктуры; остальные жители не финансируют частный автомобиль.</a:t>
            </a:r>
          </a:p>
          <a:p xmlns:a="http://schemas.openxmlformats.org/drawingml/2006/main">
            <a:r>
              <a:t>1. Пользователь EV</a:t>
            </a:r>
          </a:p>
          <a:p xmlns:a="http://schemas.openxmlformats.org/drawingml/2006/main">
            <a:r>
              <a:t>Принимает оферту в PWA и привязывает аккаунт к лицевому счёту квартиры.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Оплата — только при фактическом использовании.</a:t>
            </a:r>
          </a:p>
          <a:p xmlns:a="http://schemas.openxmlformats.org/drawingml/2006/main">
            <a:r>
              <a:t>2. Backend</a:t>
            </a:r>
          </a:p>
          <a:p xmlns:a="http://schemas.openxmlformats.org/drawingml/2006/main">
            <a:r>
              <a:t>Сводит сессии за месяц:</a:t>
            </a:r>
          </a:p>
          <a:p xmlns:a="http://schemas.openxmlformats.org/drawingml/2006/main">
            <a:r>
              <a:t>• user / лицевой счёт</a:t>
            </a:r>
          </a:p>
          <a:p xmlns:a="http://schemas.openxmlformats.org/drawingml/2006/main">
            <a:r>
              <a:t>• кВт·ч</a:t>
            </a:r>
          </a:p>
          <a:p xmlns:a="http://schemas.openxmlformats.org/drawingml/2006/main">
            <a:r>
              <a:t>• сумма услуги</a:t>
            </a:r>
          </a:p>
          <a:p xmlns:a="http://schemas.openxmlformats.org/drawingml/2006/main">
            <a:r>
              <a:t>• версия оферты</a:t>
            </a:r>
          </a:p>
          <a:p xmlns:a="http://schemas.openxmlformats.org/drawingml/2006/main">
            <a:r>
              <a:t>3. УК / ЕРЦ</a:t>
            </a:r>
          </a:p>
          <a:p xmlns:a="http://schemas.openxmlformats.org/drawingml/2006/main">
            <a:r>
              <a:t>Включает отдельную строку в квитанцию как индивидуальную услугу — если есть договор/акцепт и агентская схема.</a:t>
            </a:r>
          </a:p>
          <a:p xmlns:a="http://schemas.openxmlformats.org/drawingml/2006/main">
            <a:r>
              <a:t>4. Распределение</a:t>
            </a:r>
          </a:p>
          <a:p xmlns:a="http://schemas.openxmlformats.org/drawingml/2006/main">
            <a:r>
              <a:t>Энергетическая часть компенсирует стоимость потреблённой энергии.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Сервисная часть — оператору.</a:t>
            </a:r>
          </a:p>
          <a:p xmlns:a="http://schemas.openxmlformats.org/drawingml/2006/main">
            <a:r>
              <a:t>5. ИП-оператор</a:t>
            </a:r>
          </a:p>
          <a:p xmlns:a="http://schemas.openxmlformats.org/drawingml/2006/main">
            <a:r>
              <a:t>Backend, диспетчеризация, учёт, поддержка и регламентное обслуживание по договорной модели.</a:t>
            </a:r>
          </a:p>
          <a:p xmlns:a="http://schemas.openxmlformats.org/drawingml/2006/main">
            <a:r>
              <a:t>НЕ включать EV-потребление в КР на СОИ/ОДН и не распределять его на всех собственников. В квитанции — отдельная индивидуальная услуга конкретного пользователя.</a:t>
            </a:r>
          </a:p>
          <a:p xmlns:a="http://schemas.openxmlformats.org/drawingml/2006/main">
            <a:r>
              <a:t>Разовый инфраструктурный платёж — вместо «вступительного взноса»</a:t>
            </a:r>
          </a:p>
          <a:p xmlns:a="http://schemas.openxmlformats.org/drawingml/2006/main">
            <a:r>
              <a:t>Добровольное условие подключения к сервису с явным согласием пользователя. Назначение раскрывается в оферте: расширение зарядной сети, новые стойки, кабельные трассы, резерв на ввод новых точек.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даёт пользователю доли собственности в оборудовании, если это отдельно не оформлено.</a:t>
            </a:r>
          </a:p>
          <a:p xmlns:a="http://schemas.openxmlformats.org/drawingml/2006/main">
            <a:r>
              <a:t>Как определить сумму</a:t>
            </a:r>
          </a:p>
          <a:p xmlns:a="http://schemas.openxmlformats.org/drawingml/2006/main">
            <a:r>
              <a:t>Базовая формула: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платёж ≈ CAPEX очередного расширения ÷ плановое число новых постоянных пользователей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+ небольшой резерв.</a:t>
            </a:r>
          </a:p>
          <a:p xmlns:a="http://schemas.openxmlformats.org/drawingml/2006/main">
            <a:r>
              <a:t>После подтверждения спроса</a:t>
            </a:r>
          </a:p>
          <a:p xmlns:a="http://schemas.openxmlformats.org/drawingml/2006/main">
            <a:r>
              <a:t>ОСС определяет включение инфраструктуры в общее имущество, порядок использования и финансирования.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УК затем управляет и обслуживает её, но собственниками общего имущества остаются собственники помещений.</a:t>
            </a:r>
          </a:p>
          <a:p xmlns:a="http://schemas.openxmlformats.org/drawingml/2006/main">
            <a:r>
              <a:t>Коммунальная модель: платит тот, кто заряжает → деньги на эксплуатацию и развитие → при востребованности инфраструктура закрепляется решением ОСС и обслуживается УК.</a:t>
            </a:r>
          </a:p>
          <a:p xmlns:a="http://schemas.openxmlformats.org/drawingml/2006/main">
            <a:r>
              <a:t>Юридическая конструкция платежа и бухгалтерский учёт требуют согласования с УК/ЕРЦ и бухгалтером оператора до запуска коммерческих начислений.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https://base.garant.ru/411031962/ — Письмо Минстроя России от 21.05.2024 № 28335-АФ/04: индивидуальные дополнительные услуги могут включаться в платежный документ конкретного собственника по отдельному договору, если управляющая организация является исполнителем либо агентом исполнителя.</a:t>
            </a:r>
          </a:p>
          <a:p xmlns:a="http://schemas.openxmlformats.org/drawingml/2006/main">
            <a:r>
              <a:t>https://www.consultant.ru/document/cons_doc_LAW_305/9eb0f127ead4dc57e7d0a9d4954cf264c4b3cea8/ — Закон РФ № 2300-1, ст. 16: платные дополнительные услуги требуют согласия потребителя; недопустимы навязанные услуги и условия, ущемляющие права потребителя.</a:t>
            </a:r>
          </a:p>
          <a:p xmlns:a="http://schemas.openxmlformats.org/drawingml/2006/main">
            <a:r>
              <a:t>https://www.consultant.ru/document/cons_doc_LAW_5142/912ecd30f8655752c373ce4bde835b3832154b11/ — ГК РФ, ст. 438: акцепт оферты и совершение действий по её исполнению.</a:t>
            </a:r>
          </a:p>
          <a:p xmlns:a="http://schemas.openxmlformats.org/drawingml/2006/main">
            <a:r>
              <a:t>https://www.consultant.ru/document/cons_doc_LAW_51057/ef9450d47396aa2c9646eddb2126895406ce5b04/ — ЖК РФ, ст. 36: общее имущество принадлежит собственникам помещений на праве общей долевой собственности.</a:t>
            </a:r>
          </a:p>
          <a:p xmlns:a="http://schemas.openxmlformats.org/drawingml/2006/main">
            <a:r>
              <a:t>https://www.consultant.ru/document/cons_doc_LAW_51057/b50101afd08dee7f41764d59277937373a2f7655/ — ЖК РФ, ст. 44: решения об использовании и благоустройстве общего имущества принимаются ОСС.</a:t>
            </a:r>
          </a:p>
          <a:p xmlns:a="http://schemas.openxmlformats.org/drawingml/2006/main">
            <a:r>
              <a:t>https://www.consultant.ru/document/cons_doc_LAW_51057/14e9738be002fe3ab76c0d580b863aac1ac65fb7/ — ЖК РФ, ст. 162: договор управления определяет состав общего имущества, перечень работ/услуг и порядок платы.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Кто и как платит: без ОДН и без перекрёстного субсидирования</a:t>
            </a:r>
          </a:p>
          <a:p xmlns:a="http://schemas.openxmlformats.org/drawingml/2006/main">
            <a:r>
              <a:t>Пользователь EV оплачивает только свою зарядку и добровольно — развитие инфраструктуры; остальные жители не финансируют частный автомобиль.</a:t>
            </a:r>
          </a:p>
          <a:p xmlns:a="http://schemas.openxmlformats.org/drawingml/2006/main">
            <a:r>
              <a:t>1. Пользователь EV</a:t>
            </a:r>
          </a:p>
          <a:p xmlns:a="http://schemas.openxmlformats.org/drawingml/2006/main">
            <a:r>
              <a:t>Принимает оферту в PWA и привязывает аккаунт к лицевому счёту квартиры.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Оплата — только при фактическом использовании.</a:t>
            </a:r>
          </a:p>
          <a:p xmlns:a="http://schemas.openxmlformats.org/drawingml/2006/main">
            <a:r>
              <a:t>2. Backend</a:t>
            </a:r>
          </a:p>
          <a:p xmlns:a="http://schemas.openxmlformats.org/drawingml/2006/main">
            <a:r>
              <a:t>Сводит сессии за месяц:</a:t>
            </a:r>
          </a:p>
          <a:p xmlns:a="http://schemas.openxmlformats.org/drawingml/2006/main">
            <a:r>
              <a:t>• user / лицевой счёт</a:t>
            </a:r>
          </a:p>
          <a:p xmlns:a="http://schemas.openxmlformats.org/drawingml/2006/main">
            <a:r>
              <a:t>• кВт·ч</a:t>
            </a:r>
          </a:p>
          <a:p xmlns:a="http://schemas.openxmlformats.org/drawingml/2006/main">
            <a:r>
              <a:t>• сумма услуги</a:t>
            </a:r>
          </a:p>
          <a:p xmlns:a="http://schemas.openxmlformats.org/drawingml/2006/main">
            <a:r>
              <a:t>• версия оферты</a:t>
            </a:r>
          </a:p>
          <a:p xmlns:a="http://schemas.openxmlformats.org/drawingml/2006/main">
            <a:r>
              <a:t>3. УК / ЕРЦ</a:t>
            </a:r>
          </a:p>
          <a:p xmlns:a="http://schemas.openxmlformats.org/drawingml/2006/main">
            <a:r>
              <a:t>Включает отдельную строку в квитанцию как индивидуальную услугу — если есть договор/акцепт и агентская схема.</a:t>
            </a:r>
          </a:p>
          <a:p xmlns:a="http://schemas.openxmlformats.org/drawingml/2006/main">
            <a:r>
              <a:t>4. Распределение</a:t>
            </a:r>
          </a:p>
          <a:p xmlns:a="http://schemas.openxmlformats.org/drawingml/2006/main">
            <a:r>
              <a:t>Энергетическая часть компенсирует стоимость потреблённой энергии.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Сервисная часть — оператору.</a:t>
            </a:r>
          </a:p>
          <a:p xmlns:a="http://schemas.openxmlformats.org/drawingml/2006/main">
            <a:r>
              <a:t>5. ИП-оператор</a:t>
            </a:r>
          </a:p>
          <a:p xmlns:a="http://schemas.openxmlformats.org/drawingml/2006/main">
            <a:r>
              <a:t>Backend, диспетчеризация, учёт, поддержка и регламентное обслуживание по договорной модели.</a:t>
            </a:r>
          </a:p>
          <a:p xmlns:a="http://schemas.openxmlformats.org/drawingml/2006/main">
            <a:r>
              <a:t>НЕ включать EV-потребление в КР на СОИ/ОДН и не распределять его на всех собственников. В квитанции — отдельная индивидуальная услуга конкретного пользователя.</a:t>
            </a:r>
          </a:p>
          <a:p xmlns:a="http://schemas.openxmlformats.org/drawingml/2006/main">
            <a:r>
              <a:t>Разовый инфраструктурный платёж — вместо «вступительного взноса»</a:t>
            </a:r>
          </a:p>
          <a:p xmlns:a="http://schemas.openxmlformats.org/drawingml/2006/main">
            <a:r>
              <a:t>Добровольное условие подключения к сервису с явным согласием пользователя. Назначение раскрывается в оферте: расширение зарядной сети, новые стойки, кабельные трассы, резерв на ввод новых точек.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даёт пользователю доли собственности в оборудовании, если это отдельно не оформлено.</a:t>
            </a:r>
          </a:p>
          <a:p xmlns:a="http://schemas.openxmlformats.org/drawingml/2006/main">
            <a:r>
              <a:t>Как определить сумму</a:t>
            </a:r>
          </a:p>
          <a:p xmlns:a="http://schemas.openxmlformats.org/drawingml/2006/main">
            <a:r>
              <a:t>Базовая формула: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платёж ≈ CAPEX очередного расширения ÷ плановое число новых постоянных пользователей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+ небольшой резерв.</a:t>
            </a:r>
          </a:p>
          <a:p xmlns:a="http://schemas.openxmlformats.org/drawingml/2006/main">
            <a:r>
              <a:t>После подтверждения спроса</a:t>
            </a:r>
          </a:p>
          <a:p xmlns:a="http://schemas.openxmlformats.org/drawingml/2006/main">
            <a:r>
              <a:t>ОСС определяет включение инфраструктуры в общее имущество, порядок использования и финансирования.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УК затем управляет и обслуживает её, но собственниками общего имущества остаются собственники помещений.</a:t>
            </a:r>
          </a:p>
          <a:p xmlns:a="http://schemas.openxmlformats.org/drawingml/2006/main">
            <a:r>
              <a:t>Коммунальная модель: платит тот, кто заряжает → деньги на эксплуатацию и развитие → при востребованности инфраструктура закрепляется решением ОСС и обслуживается УК.</a:t>
            </a:r>
          </a:p>
          <a:p xmlns:a="http://schemas.openxmlformats.org/drawingml/2006/main">
            <a:r>
              <a:t>Юридическая конструкция платежа и бухгалтерский учёт требуют согласования с УК/ЕРЦ и бухгалтером оператора до запуска коммерческих начислений.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https://www.consultant.ru/document/cons_doc_LAW_51057/d68ab414b0cbed034202ad14c34387f4c35cd2d0/ — ЖК РФ, ст. 39</a:t>
            </a:r>
          </a:p>
          <a:p xmlns:a="http://schemas.openxmlformats.org/drawingml/2006/main">
            <a:r>
              <a:t>https://www.consultant.ru/document/cons_doc_LAW_51057/fc0ab0537d457cf86182567350b816e931051853/ — ЖК РФ, ст. 158</a:t>
            </a:r>
          </a:p>
          <a:p xmlns:a="http://schemas.openxmlformats.org/drawingml/2006/main">
            <a:r>
              <a:t>https://base.garant.ru/411031962/ — письмо Минстроя России от 21.05.2024 № 28335-АФ/04 об индивидуальных дополнительных услугах в платёжном документе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Что выносим на голосование ОСС</a:t>
            </a:r>
          </a:p>
          <a:p xmlns:a="http://schemas.openxmlformats.org/drawingml/2006/main">
            <a:r>
              <a:t>Пример конструкции решений: общая инженерная готовность дома + индивидуальная оплата фактического использования</a:t>
            </a:r>
          </a:p>
          <a:p xmlns:a="http://schemas.openxmlformats.org/drawingml/2006/main">
            <a:r>
              <a:t>1. Создать общую инфраструктуру</a:t>
            </a:r>
          </a:p>
          <a:p xmlns:a="http://schemas.openxmlformats.org/drawingml/2006/main">
            <a:r>
              <a:t>Разрешить размещение общего шкафа, магистралей и системы управления/балансировки мощности для контролируемого подключения EVSE.</a:t>
            </a:r>
          </a:p>
          <a:p xmlns:a="http://schemas.openxmlformats.org/drawingml/2006/main">
            <a:r>
              <a:t>2. Электроэнергию оплачивает пользователь EV</a:t>
            </a:r>
          </a:p>
          <a:p xmlns:a="http://schemas.openxmlformats.org/drawingml/2006/main">
            <a:r>
              <a:t>Потребление зарядки учитывается отдельно и не распределяется на всех собственников как ОДН/КР на СОИ.</a:t>
            </a:r>
          </a:p>
          <a:p xmlns:a="http://schemas.openxmlformats.org/drawingml/2006/main">
            <a:r>
              <a:t>3. Пользовательская часть — за счёт пользователей</a:t>
            </a:r>
          </a:p>
          <a:p xmlns:a="http://schemas.openxmlformats.org/drawingml/2006/main">
            <a:r>
              <a:t>EVSE, зарядный кабель, сервис, backend и эксплуатация пользовательской части финансируются через тариф/плату сервиса.</a:t>
            </a:r>
          </a:p>
          <a:p xmlns:a="http://schemas.openxmlformats.org/drawingml/2006/main">
            <a:r>
              <a:t>4. Расширение — преимущественно за счёт новых EV-пользователей</a:t>
            </a:r>
          </a:p>
          <a:p xmlns:a="http://schemas.openxmlformats.org/drawingml/2006/main">
            <a:r>
              <a:t>Новые стойки и увеличение EV-мощности финансируются инфраструктурными платежами пользователей; новый общий сбор — только отдельным решением ОСС.</a:t>
            </a:r>
          </a:p>
          <a:p xmlns:a="http://schemas.openxmlformats.org/drawingml/2006/main">
            <a:r>
              <a:t>Предлагаемый принцип финансирования</a:t>
            </a:r>
          </a:p>
          <a:p xmlns:a="http://schemas.openxmlformats.org/drawingml/2006/main">
            <a:r>
              <a:t>Электроэнергия и конечные EVSE</a:t>
            </a:r>
          </a:p>
          <a:p xmlns:a="http://schemas.openxmlformats.org/drawingml/2006/main">
            <a:r>
              <a:t>100% пользователи EV</a:t>
            </a:r>
          </a:p>
          <a:p xmlns:a="http://schemas.openxmlformats.org/drawingml/2006/main">
            <a:r>
              <a:t>Дальнейшее расширение</a:t>
            </a:r>
          </a:p>
          <a:p xmlns:a="http://schemas.openxmlformats.org/drawingml/2006/main">
            <a:r>
              <a:t>80–100% EV-пользователи</a:t>
            </a:r>
          </a:p>
          <a:p xmlns:a="http://schemas.openxmlformats.org/drawingml/2006/main">
            <a:r>
              <a:t>Общий бюджет дома</a:t>
            </a:r>
          </a:p>
          <a:p xmlns:a="http://schemas.openxmlformats.org/drawingml/2006/main">
            <a:r>
              <a:t>только общая база / общая польза</a:t>
            </a:r>
          </a:p>
          <a:p xmlns:a="http://schemas.openxmlformats.org/drawingml/2006/main">
            <a:r>
              <a:t>Важно: это пример экономической и организационной конструкции. Финальный текст ОСС должен учитывать состав общего имущества, договор управления и модель оператора.</a:t>
            </a:r>
          </a:p>
          <a:p xmlns:a="http://schemas.openxmlformats.org/drawingml/2006/main">
            <a:r>
              <a:t>Правовая опора: ст. 39 и 158 ЖК РФ — расходы на содержание общего имущества несут все собственники; поэтому пользовательскую часть и индивидуальное потребление разумно юридически отделять от общей основы.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https://punkt-e.ru/residentials/ — практика PUNKT E для ЖК: балансировка мощности, постепенное добавление станций, позиционирование как фактор привлекательности и стоимости машиномест</a:t>
            </a:r>
          </a:p>
          <a:p xmlns:a="http://schemas.openxmlformats.org/drawingml/2006/main">
            <a:r>
              <a:t>https://punkt-e.ru/parking/ — реализованные ЖК и модель индивидуальных зарядных станций/обслуживания</a:t>
            </a:r>
          </a:p>
          <a:p xmlns:a="http://schemas.openxmlformats.org/drawingml/2006/main">
            <a:r>
              <a:t>https://base.garant.ru/411031962/ — письмо Минстроя России от 21.05.2024 № 28335-АФ/04 об индивидуальных дополнительных услугах в платежном документе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за это может голосовать житель без электромобиля</a:t>
            </a:r>
          </a:p>
          <a:p xmlns:a="http://schemas.openxmlformats.org/drawingml/2006/main">
            <a:r>
              <a:t>Ценность — не в субсидировании чужой машины, а в инженерной готовности, порядке во дворе и ликвидности дома</a:t>
            </a:r>
          </a:p>
          <a:p xmlns:a="http://schemas.openxmlformats.org/drawingml/2006/main">
            <a:r>
              <a:t>Владелец ДВС</a:t>
            </a:r>
          </a:p>
          <a:p xmlns:a="http://schemas.openxmlformats.org/drawingml/2006/main">
            <a:r>
              <a:t>• места остаются общими</a:t>
            </a:r>
          </a:p>
          <a:p xmlns:a="http://schemas.openxmlformats.org/drawingml/2006/main">
            <a:r>
              <a:t>• не платит за чужие кВт·ч</a:t>
            </a:r>
          </a:p>
          <a:p xmlns:a="http://schemas.openxmlformats.org/drawingml/2006/main">
            <a:r>
              <a:t>• меньше самовольных кабелей</a:t>
            </a:r>
          </a:p>
          <a:p xmlns:a="http://schemas.openxmlformats.org/drawingml/2006/main">
            <a:r>
              <a:t>• при смене авто инфраструктура уже есть</a:t>
            </a:r>
          </a:p>
          <a:p xmlns:a="http://schemas.openxmlformats.org/drawingml/2006/main">
            <a:r>
              <a:t>Житель без автомобиля</a:t>
            </a:r>
          </a:p>
          <a:p xmlns:a="http://schemas.openxmlformats.org/drawingml/2006/main">
            <a:r>
              <a:t>• не оплачивает фактическую зарядку</a:t>
            </a:r>
          </a:p>
          <a:p xmlns:a="http://schemas.openxmlformats.org/drawingml/2006/main">
            <a:r>
              <a:t>• дом получает инженерную готовность</a:t>
            </a:r>
          </a:p>
          <a:p xmlns:a="http://schemas.openxmlformats.org/drawingml/2006/main">
            <a:r>
              <a:t>• шире круг покупателей/арендаторов</a:t>
            </a:r>
          </a:p>
          <a:p xmlns:a="http://schemas.openxmlformats.org/drawingml/2006/main">
            <a:r>
              <a:t>• единые правила вместо хаоса</a:t>
            </a:r>
          </a:p>
          <a:p xmlns:a="http://schemas.openxmlformats.org/drawingml/2006/main">
            <a:r>
              <a:t>УК и дом в целом</a:t>
            </a:r>
          </a:p>
          <a:p xmlns:a="http://schemas.openxmlformats.org/drawingml/2006/main">
            <a:r>
              <a:t>• один проект и ответственность</a:t>
            </a:r>
          </a:p>
          <a:p xmlns:a="http://schemas.openxmlformats.org/drawingml/2006/main">
            <a:r>
              <a:t>• мощность без перегрузки сети</a:t>
            </a:r>
          </a:p>
          <a:p xmlns:a="http://schemas.openxmlformats.org/drawingml/2006/main">
            <a:r>
              <a:t>• прозрачный учёт и подключение</a:t>
            </a:r>
          </a:p>
          <a:p xmlns:a="http://schemas.openxmlformats.org/drawingml/2006/main">
            <a:r>
              <a:t>• масштабирование по спросу</a:t>
            </a:r>
          </a:p>
          <a:p xmlns:a="http://schemas.openxmlformats.org/drawingml/2006/main">
            <a:r>
              <a:t>Дом финансирует платформу — пользователи финансируют использование и рост</a:t>
            </a:r>
          </a:p>
          <a:p xmlns:a="http://schemas.openxmlformats.org/drawingml/2006/main">
            <a:r>
              <a:t>Единый порядок вместо самодеятельности</a:t>
            </a:r>
          </a:p>
          <a:p xmlns:a="http://schemas.openxmlformats.org/drawingml/2006/main">
            <a:r>
              <a:t>Общая инфраструктура задаёт единый проект, защиту, учёт, лимит мощности и технические правила подключения.</a:t>
            </a:r>
          </a:p>
          <a:p xmlns:a="http://schemas.openxmlformats.org/drawingml/2006/main">
            <a:r>
              <a:t>Не отнимаем парковку у ДВС</a:t>
            </a:r>
          </a:p>
          <a:p xmlns:a="http://schemas.openxmlformats.org/drawingml/2006/main">
            <a:r>
              <a:t>Одна стойка с 5-метровым кабелем может обслуживать несколько общих мест; места не обязаны становиться EV-only.</a:t>
            </a:r>
          </a:p>
          <a:p xmlns:a="http://schemas.openxmlformats.org/drawingml/2006/main">
            <a:r>
              <a:t>Рыночная готовность объекта</a:t>
            </a:r>
          </a:p>
          <a:p xmlns:a="http://schemas.openxmlformats.org/drawingml/2006/main">
            <a:r>
              <a:t>PUNKT E позиционирует гарантированную возможность установки зарядки как фактор привлекательности для EV-аудитории и стоимости машиномест.</a:t>
            </a:r>
          </a:p>
          <a:p xmlns:a="http://schemas.openxmlformats.org/drawingml/2006/main">
            <a:r>
              <a:t>Нет обязательного субсидирования EV</a:t>
            </a:r>
          </a:p>
          <a:p xmlns:a="http://schemas.openxmlformats.org/drawingml/2006/main">
            <a:r>
              <a:t>Электроэнергия и конечные зарядные устройства — за счёт пользователей; общий бюджет участвует только в согласованной базовой инфраструктуре.</a:t>
            </a:r>
          </a:p>
          <a:p xmlns:a="http://schemas.openxmlformats.org/drawingml/2006/main">
            <a:r>
              <a:t>Аргумент для ОСС: мы голосуем не «за зарядку конкретной машине», а за управляемую инженерную платформу дома с оплатой фактического использования теми, кто ей пользуется.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https://punkt-e.ru/catalog/zaryadnaya-stantsiya-punkt-e-biznes-22-kvt/ — PUNKT E БИЗНЕС 22 кВт, 149 000 ₽, LAN/4G, коммерческое назначение</a:t>
            </a:r>
          </a:p>
          <a:p xmlns:a="http://schemas.openxmlformats.org/drawingml/2006/main">
            <a:r>
              <a:t>https://punkt-e.ru/catalog/zaryadnaya-stantsiya-punkt-e-floor-dual-2x22-kw-/ — PUNKT E напольная 2×22 кВт, 279 000 ₽</a:t>
            </a:r>
          </a:p>
          <a:p xmlns:a="http://schemas.openxmlformats.org/drawingml/2006/main">
            <a:r>
              <a:t>https://punkt-e.ru/catalog/ — шкаф управления PUNKT E для балансировки: цена по запросу</a:t>
            </a:r>
          </a:p>
          <a:p xmlns:a="http://schemas.openxmlformats.org/drawingml/2006/main">
            <a:r>
              <a:t>https://wirenboard.com/ru/contents/product/wb-mge-v3/ — WB-MGE v.3, 6 000 ₽</a:t>
            </a:r>
          </a:p>
          <a:p xmlns:a="http://schemas.openxmlformats.org/drawingml/2006/main">
            <a:r>
              <a:t>https://wirenboard.com/ru/catalog/pricelist/ — WBIO-DO-SSR-8 2 400 ₽; WBIO-DI-WD-14 3 040 ₽</a:t>
            </a:r>
          </a:p>
          <a:p xmlns:a="http://schemas.openxmlformats.org/drawingml/2006/main">
            <a:r>
              <a:t>Project assumption supplied by project owner: EVSE is the OEM/bundled AC charger supplied by the EV owner; backend is open-source on GitHub and maintained as a box-style community 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PUNKT E или коммунальная модель: зачем не брать готовое решение?</a:t>
            </a:r>
          </a:p>
          <a:p xmlns:a="http://schemas.openxmlformats.org/drawingml/2006/main">
            <a:r>
              <a:t>Не конкурируем с коммерческой сетью — решаем другую задачу: минимальный CAPEX для существующего МКД</a:t>
            </a:r>
          </a:p>
          <a:p xmlns:a="http://schemas.openxmlformats.org/drawingml/2006/main">
            <a:r>
              <a:t>PUNKT E</a:t>
            </a:r>
          </a:p>
          <a:p xmlns:a="http://schemas.openxmlformats.org/drawingml/2006/main">
            <a:r>
              <a:t>готовая коммерческая экосистема</a:t>
            </a:r>
          </a:p>
          <a:p xmlns:a="http://schemas.openxmlformats.org/drawingml/2006/main">
            <a:r>
              <a:t>НАША МОДЕЛЬ</a:t>
            </a:r>
          </a:p>
          <a:p xmlns:a="http://schemas.openxmlformats.org/drawingml/2006/main">
            <a:r>
              <a:t>общая инфраструктура + штатные EVSE жильцов</a:t>
            </a:r>
          </a:p>
          <a:p xmlns:a="http://schemas.openxmlformats.org/drawingml/2006/main">
            <a:r>
              <a:t>149 000 ₽</a:t>
            </a:r>
          </a:p>
          <a:p xmlns:a="http://schemas.openxmlformats.org/drawingml/2006/main">
            <a:r>
              <a:t>PUNKT E БИЗНЕС, AC 22 кВт — 1 станция</a:t>
            </a:r>
          </a:p>
          <a:p xmlns:a="http://schemas.openxmlformats.org/drawingml/2006/main">
            <a:r>
              <a:t>279 000 ₽</a:t>
            </a:r>
          </a:p>
          <a:p xmlns:a="http://schemas.openxmlformats.org/drawingml/2006/main">
            <a:r>
              <a:t>напольная 2×22 кВт — 2 порта</a:t>
            </a:r>
          </a:p>
          <a:p xmlns:a="http://schemas.openxmlformats.org/drawingml/2006/main">
            <a:r>
              <a:t>Цена шкафа управления / балансировки — по запросу</a:t>
            </a:r>
          </a:p>
          <a:p xmlns:a="http://schemas.openxmlformats.org/drawingml/2006/main">
            <a:r>
              <a:t>0 ₽</a:t>
            </a:r>
          </a:p>
          <a:p xmlns:a="http://schemas.openxmlformats.org/drawingml/2006/main">
            <a:r>
              <a:t>EVSE из бюджета инфраструктуры: владелец использует штатную зарядку, уже полученную с автомобилем</a:t>
            </a:r>
          </a:p>
          <a:p xmlns:a="http://schemas.openxmlformats.org/drawingml/2006/main">
            <a:r>
              <a:t>0 ₽</a:t>
            </a:r>
          </a:p>
          <a:p xmlns:a="http://schemas.openxmlformats.org/drawingml/2006/main">
            <a:r>
              <a:t>лицензия backend: open source на GitHub; разворачивается как коробочное решение</a:t>
            </a:r>
          </a:p>
          <a:p xmlns:a="http://schemas.openxmlformats.org/drawingml/2006/main">
            <a:r>
              <a:t>11 440 ₽</a:t>
            </a:r>
          </a:p>
          <a:p xmlns:a="http://schemas.openxmlformats.org/drawingml/2006/main">
            <a:r>
              <a:t>цифровое ядро общего шкафа: WB-MGE 6 000 + DO 2 400 + DI 3 040 ₽</a:t>
            </a:r>
          </a:p>
          <a:p xmlns:a="http://schemas.openxmlformats.org/drawingml/2006/main">
            <a:r>
              <a:t>+ один общий счётчик, защиты, контакторы, БП и шкаф — на несколько EVSE</a:t>
            </a:r>
          </a:p>
          <a:p xmlns:a="http://schemas.openxmlformats.org/drawingml/2006/main">
            <a:r>
              <a:t>4 точки PUNKT E БИЗНЕС = 596 000 ₽ только EVSE   |   8 точек = 1 192 000 ₽ только EVSE</a:t>
            </a:r>
          </a:p>
          <a:p xmlns:a="http://schemas.openxmlformats.org/drawingml/2006/main">
            <a:r>
              <a:t>У нас EVSE = 0 ₽ из общего бюджета; дорожает в основном кабель + защита + стойка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https://punkt-e.ru/faq/ — PUNKT E: тариф зависит от типа/мощности станции, актуальная цена показывается в приложении</a:t>
            </a:r>
          </a:p>
          <a:p xmlns:a="http://schemas.openxmlformats.org/drawingml/2006/main">
            <a:r>
              <a:t>https://punkt-e.ru/blog/punkt-e-perekhodit-na-kombinirovannyy-tarif/ — дневной/ночной тариф, актуальная ставка по каждой станции в приложении</a:t>
            </a:r>
          </a:p>
          <a:p xmlns:a="http://schemas.openxmlformats.org/drawingml/2006/main">
            <a:r>
              <a:t>https://you-cheat-engine.ru/ekaterinburg/punkt-e-168953744907 — пример публичной PUNKT E в Екатеринбурге: 18 ₽/кВт·ч (сторонний агрегатор, ориентир)</a:t>
            </a:r>
          </a:p>
          <a:p xmlns:a="http://schemas.openxmlformats.org/drawingml/2006/main">
            <a:r>
              <a:t>https://you-cheat-engine.ru/ekaterinburg/punkte-239001476556 — пример публичной PUNKT E в Екатеринбурге: 19 ₽/кВт·ч (сторонний агрегатор, ориентир)</a:t>
            </a:r>
          </a:p>
          <a:p xmlns:a="http://schemas.openxmlformats.org/drawingml/2006/main">
            <a:r>
              <a:t>https://punkt-e.ru/residentials/ — практика балансировки мощности в ЖК и постепенного подключения индивидуальных станций</a:t>
            </a:r>
          </a:p>
          <a:p xmlns:a="http://schemas.openxmlformats.org/drawingml/2006/main">
            <a:r>
              <a:t>Project target supplied/derived in project model: коммунальная стоимость ~7.5–9 ₽/кВт·ч is an indicative target, not a regulated tariff or guaranteed price.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Экономика для жильца: коммерческая сеть vs зарядка у дома</a:t>
            </a:r>
          </a:p>
          <a:p xmlns:a="http://schemas.openxmlformats.org/drawingml/2006/main">
            <a:r>
              <a:t>Публичная сеть нужна в поездке; коммунальная AC-зарядка оптимизирует ежедневную ночную зарядку</a:t>
            </a:r>
          </a:p>
          <a:p xmlns:a="http://schemas.openxmlformats.org/drawingml/2006/main">
            <a:r>
              <a:t>Публичная PUNKT E в Екатеринбурге</a:t>
            </a:r>
          </a:p>
          <a:p xmlns:a="http://schemas.openxmlformats.org/drawingml/2006/main">
            <a:r>
              <a:t>≈18–19 ₽/кВт·ч</a:t>
            </a:r>
          </a:p>
          <a:p xmlns:a="http://schemas.openxmlformats.org/drawingml/2006/main">
            <a:r>
              <a:t>Примеры текущих станций; точный тариф PUNKT E всегда определяется по конкретному коннектору в приложении.</a:t>
            </a:r>
          </a:p>
          <a:p xmlns:a="http://schemas.openxmlformats.org/drawingml/2006/main">
            <a:r>
              <a:t>Цель коммунального проекта</a:t>
            </a:r>
          </a:p>
          <a:p xmlns:a="http://schemas.openxmlformats.org/drawingml/2006/main">
            <a:r>
              <a:t>≈7,5–9 ₽/кВт·ч</a:t>
            </a:r>
          </a:p>
          <a:p xmlns:a="http://schemas.openxmlformats.org/drawingml/2006/main">
            <a:r>
              <a:t>Проектный ориентир: стоимость электроэнергии дома + небольшой сервисный/инфраструктурный резерв.</a:t>
            </a:r>
          </a:p>
          <a:p xmlns:a="http://schemas.openxmlformats.org/drawingml/2006/main">
            <a:r>
              <a:t>Экономия при 300 кВт·ч/мес</a:t>
            </a:r>
          </a:p>
          <a:p xmlns:a="http://schemas.openxmlformats.org/drawingml/2006/main">
            <a:r>
              <a:t>≈2,7–3,45 тыс. ₽/мес</a:t>
            </a:r>
          </a:p>
          <a:p xmlns:a="http://schemas.openxmlformats.org/drawingml/2006/main">
            <a:r>
              <a:t>Ориентир относительно публичной зарядки 18–19 ₽/кВт·ч. Фактический эффект зависит от тарифа дома.</a:t>
            </a:r>
          </a:p>
          <a:p xmlns:a="http://schemas.openxmlformats.org/drawingml/2006/main">
            <a:r>
              <a:t>Почему это не «изобретение велосипеда»</a:t>
            </a:r>
          </a:p>
          <a:p xmlns:a="http://schemas.openxmlformats.org/drawingml/2006/main">
            <a:r>
              <a:t>✓</a:t>
            </a:r>
          </a:p>
          <a:p xmlns:a="http://schemas.openxmlformats.org/drawingml/2006/main">
            <a:r>
              <a:t>PUNKT E доказывает сам принцип</a:t>
            </a:r>
          </a:p>
          <a:p xmlns:a="http://schemas.openxmlformats.org/drawingml/2006/main">
            <a:r>
              <a:t>Балансировка мощности и поэтапное добавление EVSE уже применяются в ЖК.</a:t>
            </a:r>
          </a:p>
          <a:p xmlns:a="http://schemas.openxmlformats.org/drawingml/2006/main">
            <a:r>
              <a:t>✓</a:t>
            </a:r>
          </a:p>
          <a:p xmlns:a="http://schemas.openxmlformats.org/drawingml/2006/main">
            <a:r>
              <a:t>Мы убираем дорогой элемент из каждой точки</a:t>
            </a:r>
          </a:p>
          <a:p xmlns:a="http://schemas.openxmlformats.org/drawingml/2006/main">
            <a:r>
              <a:t>Интеллект, учёт и управление вынесены в один общий шкаф/backend.</a:t>
            </a:r>
          </a:p>
          <a:p xmlns:a="http://schemas.openxmlformats.org/drawingml/2006/main">
            <a:r>
              <a:t>✓</a:t>
            </a:r>
          </a:p>
          <a:p xmlns:a="http://schemas.openxmlformats.org/drawingml/2006/main">
            <a:r>
              <a:t>Используем то, что уже куплено владельцем EV</a:t>
            </a:r>
          </a:p>
          <a:p xmlns:a="http://schemas.openxmlformats.org/drawingml/2006/main">
            <a:r>
              <a:t>Штатная AC EVSE не оплачивается из общего бюджета дома.</a:t>
            </a:r>
          </a:p>
          <a:p xmlns:a="http://schemas.openxmlformats.org/drawingml/2006/main">
            <a:r>
              <a:t>✓</a:t>
            </a:r>
          </a:p>
          <a:p xmlns:a="http://schemas.openxmlformats.org/drawingml/2006/main">
            <a:r>
              <a:t>Open source вместо привязки к поставщику</a:t>
            </a:r>
          </a:p>
          <a:p xmlns:a="http://schemas.openxmlformats.org/drawingml/2006/main">
            <a:r>
              <a:t>Backend можно развернуть и обслуживать силами оператора/энтузиастов; открытые интерфейсы упрощают смену обслуживающей стороны.</a:t>
            </a:r>
          </a:p>
          <a:p xmlns:a="http://schemas.openxmlformats.org/drawingml/2006/main">
            <a:r>
              <a:t>Когда лучше PUNKT E</a:t>
            </a:r>
          </a:p>
          <a:p xmlns:a="http://schemas.openxmlformats.org/drawingml/2006/main">
            <a:r>
              <a:t>• нужен turnkey и единый коммерческий подрядчик</a:t>
            </a:r>
          </a:p>
          <a:p xmlns:a="http://schemas.openxmlformats.org/drawingml/2006/main">
            <a:r>
              <a:t>• нужна фирменная станция с гарантией/связью</a:t>
            </a:r>
          </a:p>
          <a:p xmlns:a="http://schemas.openxmlformats.org/drawingml/2006/main">
            <a:r>
              <a:t>• нет команды для собственного backend</a:t>
            </a:r>
          </a:p>
          <a:p xmlns:a="http://schemas.openxmlformats.org/drawingml/2006/main">
            <a:r>
              <a:t>• публичная коммерческая эксплуатация</a:t>
            </a:r>
          </a:p>
          <a:p xmlns:a="http://schemas.openxmlformats.org/drawingml/2006/main">
            <a:r>
              <a:t>Когда выгоднее коммунальная модель</a:t>
            </a:r>
          </a:p>
          <a:p xmlns:a="http://schemas.openxmlformats.org/drawingml/2006/main">
            <a:r>
              <a:t>• МКД уже имеет сеть и УК</a:t>
            </a:r>
          </a:p>
          <a:p xmlns:a="http://schemas.openxmlformats.org/drawingml/2006/main">
            <a:r>
              <a:t>• EVSE приносят сами владельцы</a:t>
            </a:r>
          </a:p>
          <a:p xmlns:a="http://schemas.openxmlformats.org/drawingml/2006/main">
            <a:r>
              <a:t>• ключевая цель — минимальный CAPEX</a:t>
            </a:r>
          </a:p>
          <a:p xmlns:a="http://schemas.openxmlformats.org/drawingml/2006/main">
            <a:r>
              <a:t>• расширяемся постепенно по реальному спросу</a:t>
            </a:r>
          </a:p>
          <a:p xmlns:a="http://schemas.openxmlformats.org/drawingml/2006/main">
            <a:r>
              <a:t>Честное ограничение: штатная EVSE конкретного автомобиля должна быть проверена по паспорту на наружную/стационарную эксплуатацию, защиту DC-утечки и допустимость общего режима использования.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https://punkt-e.ru/faq/ — PUNKT E: тариф зависит от типа/мощности станции, актуальная цена показывается в приложении</a:t>
            </a:r>
          </a:p>
          <a:p xmlns:a="http://schemas.openxmlformats.org/drawingml/2006/main">
            <a:r>
              <a:t>https://punkt-e.ru/blog/punkt-e-perekhodit-na-kombinirovannyy-tarif/ — дневной/ночной тариф, актуальная ставка по каждой станции в приложении</a:t>
            </a:r>
          </a:p>
          <a:p xmlns:a="http://schemas.openxmlformats.org/drawingml/2006/main">
            <a:r>
              <a:t>https://you-cheat-engine.ru/ekaterinburg/punkt-e-168953744907 — пример публичной PUNKT E в Екатеринбурге: 18 ₽/кВт·ч (сторонний агрегатор, ориентир)</a:t>
            </a:r>
          </a:p>
          <a:p xmlns:a="http://schemas.openxmlformats.org/drawingml/2006/main">
            <a:r>
              <a:t>https://you-cheat-engine.ru/ekaterinburg/punkte-239001476556 — пример публичной PUNKT E в Екатеринбурге: 19 ₽/кВт·ч (сторонний агрегатор, ориентир)</a:t>
            </a:r>
          </a:p>
          <a:p xmlns:a="http://schemas.openxmlformats.org/drawingml/2006/main">
            <a:r>
              <a:t>https://punkt-e.ru/residentials/ — практика балансировки мощности в ЖК и постепенного подключения индивидуальных станций</a:t>
            </a:r>
          </a:p>
          <a:p xmlns:a="http://schemas.openxmlformats.org/drawingml/2006/main">
            <a:r>
              <a:t>Project target supplied/derived in project model: коммунальная стоимость ~7.5–9 ₽/кВт·ч is an indicative target, not a regulated tariff or guaranteed price.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Экономика для жильца: коммерческая сеть vs зарядка у дома</a:t>
            </a:r>
          </a:p>
          <a:p xmlns:a="http://schemas.openxmlformats.org/drawingml/2006/main">
            <a:r>
              <a:t>Публичная сеть нужна в поездке; коммунальная AC-зарядка оптимизирует ежедневную ночную зарядку</a:t>
            </a:r>
          </a:p>
          <a:p xmlns:a="http://schemas.openxmlformats.org/drawingml/2006/main">
            <a:r>
              <a:t>Публичная PUNKT E в Екатеринбурге</a:t>
            </a:r>
          </a:p>
          <a:p xmlns:a="http://schemas.openxmlformats.org/drawingml/2006/main">
            <a:r>
              <a:t>≈18–19 ₽/кВт·ч</a:t>
            </a:r>
          </a:p>
          <a:p xmlns:a="http://schemas.openxmlformats.org/drawingml/2006/main">
            <a:r>
              <a:t>Примеры текущих станций; точный тариф PUNKT E всегда определяется по конкретному коннектору в приложении.</a:t>
            </a:r>
          </a:p>
          <a:p xmlns:a="http://schemas.openxmlformats.org/drawingml/2006/main">
            <a:r>
              <a:t>Цель коммунального проекта</a:t>
            </a:r>
          </a:p>
          <a:p xmlns:a="http://schemas.openxmlformats.org/drawingml/2006/main">
            <a:r>
              <a:t>≈7,5–9 ₽/кВт·ч</a:t>
            </a:r>
          </a:p>
          <a:p xmlns:a="http://schemas.openxmlformats.org/drawingml/2006/main">
            <a:r>
              <a:t>Проектный ориентир: стоимость электроэнергии дома + небольшой сервисный/инфраструктурный резерв.</a:t>
            </a:r>
          </a:p>
          <a:p xmlns:a="http://schemas.openxmlformats.org/drawingml/2006/main">
            <a:r>
              <a:t>Экономия при 300 кВт·ч/мес</a:t>
            </a:r>
          </a:p>
          <a:p xmlns:a="http://schemas.openxmlformats.org/drawingml/2006/main">
            <a:r>
              <a:t>≈2,7–3,45 тыс. ₽/мес</a:t>
            </a:r>
          </a:p>
          <a:p xmlns:a="http://schemas.openxmlformats.org/drawingml/2006/main">
            <a:r>
              <a:t>Ориентир относительно публичной зарядки 18–19 ₽/кВт·ч. Фактический эффект зависит от тарифа дома.</a:t>
            </a:r>
          </a:p>
          <a:p xmlns:a="http://schemas.openxmlformats.org/drawingml/2006/main">
            <a:r>
              <a:t>Почему это не «изобретение велосипеда»</a:t>
            </a:r>
          </a:p>
          <a:p xmlns:a="http://schemas.openxmlformats.org/drawingml/2006/main">
            <a:r>
              <a:t>✓</a:t>
            </a:r>
          </a:p>
          <a:p xmlns:a="http://schemas.openxmlformats.org/drawingml/2006/main">
            <a:r>
              <a:t>PUNKT E доказывает сам принцип</a:t>
            </a:r>
          </a:p>
          <a:p xmlns:a="http://schemas.openxmlformats.org/drawingml/2006/main">
            <a:r>
              <a:t>Балансировка мощности и поэтапное добавление EVSE уже применяются в ЖК.</a:t>
            </a:r>
          </a:p>
          <a:p xmlns:a="http://schemas.openxmlformats.org/drawingml/2006/main">
            <a:r>
              <a:t>✓</a:t>
            </a:r>
          </a:p>
          <a:p xmlns:a="http://schemas.openxmlformats.org/drawingml/2006/main">
            <a:r>
              <a:t>Мы убираем дорогой элемент из каждой точки</a:t>
            </a:r>
          </a:p>
          <a:p xmlns:a="http://schemas.openxmlformats.org/drawingml/2006/main">
            <a:r>
              <a:t>Интеллект, учёт и управление вынесены в один общий шкаф/backend.</a:t>
            </a:r>
          </a:p>
          <a:p xmlns:a="http://schemas.openxmlformats.org/drawingml/2006/main">
            <a:r>
              <a:t>✓</a:t>
            </a:r>
          </a:p>
          <a:p xmlns:a="http://schemas.openxmlformats.org/drawingml/2006/main">
            <a:r>
              <a:t>Используем то, что уже куплено владельцем EV</a:t>
            </a:r>
          </a:p>
          <a:p xmlns:a="http://schemas.openxmlformats.org/drawingml/2006/main">
            <a:r>
              <a:t>Штатная AC EVSE не оплачивается из общего бюджета дома.</a:t>
            </a:r>
          </a:p>
          <a:p xmlns:a="http://schemas.openxmlformats.org/drawingml/2006/main">
            <a:r>
              <a:t>✓</a:t>
            </a:r>
          </a:p>
          <a:p xmlns:a="http://schemas.openxmlformats.org/drawingml/2006/main">
            <a:r>
              <a:t>Open source вместо привязки к поставщику</a:t>
            </a:r>
          </a:p>
          <a:p xmlns:a="http://schemas.openxmlformats.org/drawingml/2006/main">
            <a:r>
              <a:t>Backend можно развернуть и обслуживать силами оператора/энтузиастов; открытые интерфейсы упрощают смену обслуживающей стороны.</a:t>
            </a:r>
          </a:p>
          <a:p xmlns:a="http://schemas.openxmlformats.org/drawingml/2006/main">
            <a:r>
              <a:t>Когда лучше PUNKT E</a:t>
            </a:r>
          </a:p>
          <a:p xmlns:a="http://schemas.openxmlformats.org/drawingml/2006/main">
            <a:r>
              <a:t>• нужен turnkey и единый коммерческий подрядчик</a:t>
            </a:r>
          </a:p>
          <a:p xmlns:a="http://schemas.openxmlformats.org/drawingml/2006/main">
            <a:r>
              <a:t>• нужна фирменная станция с гарантией/связью</a:t>
            </a:r>
          </a:p>
          <a:p xmlns:a="http://schemas.openxmlformats.org/drawingml/2006/main">
            <a:r>
              <a:t>• нет команды для собственного backend</a:t>
            </a:r>
          </a:p>
          <a:p xmlns:a="http://schemas.openxmlformats.org/drawingml/2006/main">
            <a:r>
              <a:t>• публичная коммерческая эксплуатация</a:t>
            </a:r>
          </a:p>
          <a:p xmlns:a="http://schemas.openxmlformats.org/drawingml/2006/main">
            <a:r>
              <a:t>Когда выгоднее коммунальная модель</a:t>
            </a:r>
          </a:p>
          <a:p xmlns:a="http://schemas.openxmlformats.org/drawingml/2006/main">
            <a:r>
              <a:t>• МКД уже имеет сеть и УК</a:t>
            </a:r>
          </a:p>
          <a:p xmlns:a="http://schemas.openxmlformats.org/drawingml/2006/main">
            <a:r>
              <a:t>• EVSE приносят сами владельцы</a:t>
            </a:r>
          </a:p>
          <a:p xmlns:a="http://schemas.openxmlformats.org/drawingml/2006/main">
            <a:r>
              <a:t>• ключевая цель — минимальный CAPEX</a:t>
            </a:r>
          </a:p>
          <a:p xmlns:a="http://schemas.openxmlformats.org/drawingml/2006/main">
            <a:r>
              <a:t>• расширяемся постепенно по реальному спросу</a:t>
            </a:r>
          </a:p>
          <a:p xmlns:a="http://schemas.openxmlformats.org/drawingml/2006/main">
            <a:r>
              <a:t>Честное ограничение: штатная EVSE конкретного автомобиля должна быть проверена по паспорту на наружную/стационарную эксплуатацию, защиту DC-утечки и допустимость общего режима использования.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b633928c74e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7397476d8d4542" /><Relationship Type="http://schemas.openxmlformats.org/officeDocument/2006/relationships/slideLayout" Target="/ppt/slideLayouts/slideLayout1.xml" Id="R908c5bc90f9947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8c5bc90f9947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3032706954bed" /><Relationship Type="http://schemas.openxmlformats.org/officeDocument/2006/relationships/image" Target="/ppt/media/image.png" Id="Rb07fdd2dc08a4b96" /><Relationship Type="http://schemas.openxmlformats.org/officeDocument/2006/relationships/notesSlide" Target="/ppt/notesSlides/notesSlide1.xml" Id="R1a969583135943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221b0f1f34c0a" /><Relationship Type="http://schemas.openxmlformats.org/officeDocument/2006/relationships/notesSlide" Target="/ppt/notesSlides/notesSlide2.xml" Id="R9f58909f4de343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6137608ef4856" /><Relationship Type="http://schemas.openxmlformats.org/officeDocument/2006/relationships/image" Target="/ppt/media/image2.png" Id="R697508e1d6024f63" /><Relationship Type="http://schemas.openxmlformats.org/officeDocument/2006/relationships/notesSlide" Target="/ppt/notesSlides/notesSlide3.xml" Id="R1f732cdc443b4b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494a4b75f4bc7" /><Relationship Type="http://schemas.openxmlformats.org/officeDocument/2006/relationships/image" Target="/ppt/media/image3.png" Id="R9bdb9d2ad4e64bc1" /><Relationship Type="http://schemas.openxmlformats.org/officeDocument/2006/relationships/notesSlide" Target="/ppt/notesSlides/notesSlide4.xml" Id="R42e8a47d03d842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92f3995e2459c" /><Relationship Type="http://schemas.openxmlformats.org/officeDocument/2006/relationships/image" Target="/ppt/media/image4.png" Id="Rdaac67f0812a4945" /><Relationship Type="http://schemas.openxmlformats.org/officeDocument/2006/relationships/notesSlide" Target="/ppt/notesSlides/notesSlide5.xml" Id="R02cb9f8ca5ea4e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d49a785614589" /><Relationship Type="http://schemas.openxmlformats.org/officeDocument/2006/relationships/notesSlide" Target="/ppt/notesSlides/notesSlide6.xml" Id="R1a97a1462ea749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58d6bae424fdb" /><Relationship Type="http://schemas.openxmlformats.org/officeDocument/2006/relationships/image" Target="/ppt/media/image5.png" Id="R28ece62d39524ee0" /><Relationship Type="http://schemas.openxmlformats.org/officeDocument/2006/relationships/notesSlide" Target="/ppt/notesSlides/notesSlide7.xml" Id="R32b2b592821147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03e80031147f0" /><Relationship Type="http://schemas.openxmlformats.org/officeDocument/2006/relationships/notesSlide" Target="/ppt/notesSlides/notesSlide8.xml" Id="R9f59cc3ff9fa41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c9953e2814517" /><Relationship Type="http://schemas.openxmlformats.org/officeDocument/2006/relationships/notesSlide" Target="/ppt/notesSlides/notesSlide9.xml" Id="R4fcc2f4e67d041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314814e0e4baa" /><Relationship Type="http://schemas.openxmlformats.org/officeDocument/2006/relationships/image" Target="/ppt/media/image6.png" Id="R4d7e3ff67d144c11" /><Relationship Type="http://schemas.openxmlformats.org/officeDocument/2006/relationships/notesSlide" Target="/ppt/notesSlides/notesSlide10.xml" Id="R758399bcba1749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7cf7afeab4330" /><Relationship Type="http://schemas.openxmlformats.org/officeDocument/2006/relationships/image" Target="/ppt/media/image7.png" Id="R4844352e899c4592" /><Relationship Type="http://schemas.openxmlformats.org/officeDocument/2006/relationships/notesSlide" Target="/ppt/notesSlides/notesSlide11.xml" Id="R742134700f8b45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b655637f24ad5" /><Relationship Type="http://schemas.openxmlformats.org/officeDocument/2006/relationships/image" Target="/ppt/media/image8.png" Id="R048cf485f1d548a5" /><Relationship Type="http://schemas.openxmlformats.org/officeDocument/2006/relationships/notesSlide" Target="/ppt/notesSlides/notesSlide12.xml" Id="R35e879892eb54b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78dc8ceae4d3e" /><Relationship Type="http://schemas.openxmlformats.org/officeDocument/2006/relationships/notesSlide" Target="/ppt/notesSlides/notesSlide13.xml" Id="R60d5469bb37b48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15a6142d54496" /><Relationship Type="http://schemas.openxmlformats.org/officeDocument/2006/relationships/notesSlide" Target="/ppt/notesSlides/notesSlide14.xml" Id="R0c931ae7d32c44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22626f1a64461" /><Relationship Type="http://schemas.openxmlformats.org/officeDocument/2006/relationships/notesSlide" Target="/ppt/notesSlides/notesSlide15.xml" Id="Rc999980c8ba146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ef51a62c74d8c" /><Relationship Type="http://schemas.openxmlformats.org/officeDocument/2006/relationships/notesSlide" Target="/ppt/notesSlides/notesSlide16.xml" Id="R4fdaab7e2b6949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0644f845c4a92" /><Relationship Type="http://schemas.openxmlformats.org/officeDocument/2006/relationships/notesSlide" Target="/ppt/notesSlides/notesSlide17.xml" Id="Rc3b56349a1534b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0c2ae4abc44ea" /><Relationship Type="http://schemas.openxmlformats.org/officeDocument/2006/relationships/notesSlide" Target="/ppt/notesSlides/notesSlide18.xml" Id="Ra453a0194f5a4d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16ee4c47b4c14" /><Relationship Type="http://schemas.openxmlformats.org/officeDocument/2006/relationships/notesSlide" Target="/ppt/notesSlides/notesSlide19.xml" Id="Rf3e36005be6c41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60309ec9a4573" /><Relationship Type="http://schemas.openxmlformats.org/officeDocument/2006/relationships/notesSlide" Target="/ppt/notesSlides/notesSlide20.xml" Id="Rb6f90349a7474e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4839046ac4afb" /><Relationship Type="http://schemas.openxmlformats.org/officeDocument/2006/relationships/notesSlide" Target="/ppt/notesSlides/notesSlide21.xml" Id="R667a2ef5965f48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0aa9ed7f94555" /><Relationship Type="http://schemas.openxmlformats.org/officeDocument/2006/relationships/notesSlide" Target="/ppt/notesSlides/notesSlide22.xml" Id="R9b894f7152ca45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eacaf69924543" /><Relationship Type="http://schemas.openxmlformats.org/officeDocument/2006/relationships/notesSlide" Target="/ppt/notesSlides/notesSlide23.xml" Id="Rd8c4377bea2b40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d260bdd374231" /><Relationship Type="http://schemas.openxmlformats.org/officeDocument/2006/relationships/notesSlide" Target="/ppt/notesSlides/notesSlide24.xml" Id="R1ac5c3c44dcf4d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04e034d694acf" /><Relationship Type="http://schemas.openxmlformats.org/officeDocument/2006/relationships/notesSlide" Target="/ppt/notesSlides/notesSlide25.xml" Id="R5b4ee6cffeda439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7ab268c4e4c6c" /><Relationship Type="http://schemas.openxmlformats.org/officeDocument/2006/relationships/notesSlide" Target="/ppt/notesSlides/notesSlide26.xml" Id="R03cf16c8a3cd406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7b93adeac4e59" /><Relationship Type="http://schemas.openxmlformats.org/officeDocument/2006/relationships/notesSlide" Target="/ppt/notesSlides/notesSlide27.xml" Id="Rf9c57be06bdd425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9494d824a441b" /><Relationship Type="http://schemas.openxmlformats.org/officeDocument/2006/relationships/notesSlide" Target="/ppt/notesSlides/notesSlide28.xml" Id="Rb5830788779141c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a36b1ac42440e" /><Relationship Type="http://schemas.openxmlformats.org/officeDocument/2006/relationships/notesSlide" Target="/ppt/notesSlides/notesSlide29.xml" Id="R68f2a25f444a4d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4d3cab21e4cbf" /><Relationship Type="http://schemas.openxmlformats.org/officeDocument/2006/relationships/notesSlide" Target="/ppt/notesSlides/notesSlide30.xml" Id="Ra85185e73c014a5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1010418814a45" /><Relationship Type="http://schemas.openxmlformats.org/officeDocument/2006/relationships/notesSlide" Target="/ppt/notesSlides/notesSlide31.xml" Id="Rcb25fc7ac0d040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9B1BF-69CF-487D-8671-33D782E9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5762625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Коммунальная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AC-зарядка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МКД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8957B-CEEB-4B97-B512-6A8B5C69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5095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Общий шкаф, лёгкие стойки</a:t>
            </a:r>
          </a:p>
          <a:p xmlns:a="http://schemas.openxmlformats.org/drawingml/2006/main">
            <a:pPr>
              <a:defRPr sz="2175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и центральный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48647-22C0-4D86-8B43-0F52B52C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528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Концепция проекта</a:t>
            </a:r>
          </a:p>
          <a:p xmlns:a="http://schemas.openxmlformats.org/drawingml/2006/main">
            <a:pPr>
              <a:defRPr sz="1425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Сентябрь 2026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fdd2dc08a4b96"/>
          <a:stretch xmlns:a="http://schemas.openxmlformats.org/drawingml/2006/main"/>
        </p:blipFill>
        <p:spPr>
          <a:xfrm xmlns:a="http://schemas.openxmlformats.org/drawingml/2006/main">
            <a:off x="6286500" y="1726659"/>
            <a:ext cx="5362575" cy="29284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61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C481F-E1FB-4709-8286-BCF746E6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Зарядка без дорогой инфраструктуры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B69BA-C2D3-4F33-B23A-485605AE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На первом этапе парковочные места остаются общими для EV и ДВС.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DF53C-4E6E-43EB-8AE0-149E7BA5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922C2-8876-410C-8F46-9CE34F33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Общее имущество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C138E-87A4-40B5-AE15-30F7BDEB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УК получает понятную систему учёта, безопасности и обслуживания.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67628-8CD9-4125-A6BF-ED227CED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Платят пользователи 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36017-2537-41F4-9A0C-A5C34C5E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Пользователь оплачивает зарядку. Стоимость точки снижают за счёт общего управления.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2D102-2B82-40C1-B35A-7A35AEEF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Ограниченная мощность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7F78C-AA2C-44A0-8BAA-B29E3F8A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Три однофазных или одна трёхфазная зарядка. Эти режимы не работают одновременно.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A6239-6FC2-437A-9205-4F23B3A8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Без вскрытия асфальта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56FB3-55C8-4628-B717-2E65399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Шкаф и стойки у бордюра. Трассы идут по газону, пересечения покрытия — в ПНД или проколом.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0048F-207E-4215-973C-87B3CD79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Общая инфраструктура обслуживает несколько простых зарядных точек.</a:t>
            </a:r>
          </a:p>
        </p:txBody>
      </p:sp>
    </p:spTree>
    <p:extLst>
      <p:ext uri="{BB962C8B-B14F-4D97-AF65-F5344CB8AC3E}">
        <p14:creationId xmlns:p14="http://schemas.microsoft.com/office/powerpoint/2010/main" val="441601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7A211-96CF-4B21-A59D-596642DE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Физическая компоновка двора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C6C12-E50F-4A3B-8B1B-83F47225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Один шкаф обслуживает несколько лёгких стоек.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D1936-B599-47D7-8416-12698B86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508e1d6024f63"/>
          <a:stretch xmlns:a="http://schemas.openxmlformats.org/drawingml/2006/main"/>
        </p:blipFill>
        <p:spPr>
          <a:xfrm xmlns:a="http://schemas.openxmlformats.org/drawingml/2006/main">
            <a:off x="1013095" y="1990725"/>
            <a:ext cx="3079210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11A76-4DE3-46A1-9C05-6F17D4D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193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Размещение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313A9-CA0C-4EBC-B06B-26533141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Стойки у бордюра на газоне, между 2–3-м и 6–7-м местами. Кабель 5 м достигает нескольких соседних мест.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92453-59C9-4C16-8EEB-9D8AAD3F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86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Масштабирование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D25D2-A46F-400E-B24D-498E2CA7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81425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Следующая стойка добавляет до четырёх потенциальных мест без нового шкафа и backend.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6AC49-4159-401D-80F3-DFBCBFAA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529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Строительство и уборка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928FB-4B74-4071-9729-7A3FB38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482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Трассы идут по газону. Учитываются снег, уборочная техника и доступ к стойкам.</a:t>
            </a:r>
          </a:p>
        </p:txBody>
      </p:sp>
    </p:spTree>
    <p:extLst>
      <p:ext uri="{BB962C8B-B14F-4D97-AF65-F5344CB8AC3E}">
        <p14:creationId xmlns:p14="http://schemas.microsoft.com/office/powerpoint/2010/main" val="1484642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9AED2-4FAE-4AF2-9C1C-8102B2B7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Архитектура: центральное управление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23CAA-4151-45B7-81F7-9E69A0D2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В шкафу нет локального биллинга: Modbus-шлюз, модули I/O и счётчик.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97B72-97D9-4EAC-8606-D11C7386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b9d2ad4e64bc1"/>
          <a:stretch xmlns:a="http://schemas.openxmlformats.org/drawingml/2006/main"/>
        </p:blipFill>
        <p:spPr>
          <a:xfrm xmlns:a="http://schemas.openxmlformats.org/drawingml/2006/main">
            <a:off x="552450" y="2283593"/>
            <a:ext cx="10991850" cy="17193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60A4D-8267-408F-8384-545BE1FB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91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Общая серверная логика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05874-DF1A-4C60-AD30-FBAE917F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Авторизация, сессии, управление мощностью и интеграция с 1С.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A05A5-C39E-4564-ABCD-42BEAC7F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291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Простой шкаф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FC9D5-2052-415F-B59F-933BA66D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4827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Modbus-шлюз, DO/DI, CE307 по RS-485, контакторы K1–K4 и питание 24 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75DC7-44A3-4E82-8455-DBCF41F7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Один сервер управляет дворами. Замена edge-модуля требует настройки IP и Modbus.</a:t>
            </a:r>
          </a:p>
        </p:txBody>
      </p:sp>
    </p:spTree>
    <p:extLst>
      <p:ext uri="{BB962C8B-B14F-4D97-AF65-F5344CB8AC3E}">
        <p14:creationId xmlns:p14="http://schemas.microsoft.com/office/powerpoint/2010/main" val="2047521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C712D-3D5C-4649-A7C1-DDB75C81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Электрическая структура шкафа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241AA-B58E-461A-AE96-AD1FB9E4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Общий счётчик после вводного автомата. У каждой EVSE своя защита и контактор.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7C3C7-BC15-4818-8F9A-4A779E3D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c67f0812a4945"/>
          <a:stretch xmlns:a="http://schemas.openxmlformats.org/drawingml/2006/main"/>
        </p:blipFill>
        <p:spPr>
          <a:xfrm xmlns:a="http://schemas.openxmlformats.org/drawingml/2006/main">
            <a:off x="930356" y="1971675"/>
            <a:ext cx="10236038" cy="3257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6A872-628F-43AF-84AF-92ABFC5C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1100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Общий учёт CE307. Энергию между сессиями распределяет backend.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6B790-AA8E-4DD2-B8C1-371A5D16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Тип АВДТ учитывает DC-защиту EVSE. УЗИП передаёт аварийный сигнал на DI.</a:t>
            </a:r>
          </a:p>
        </p:txBody>
      </p:sp>
    </p:spTree>
    <p:extLst>
      <p:ext uri="{BB962C8B-B14F-4D97-AF65-F5344CB8AC3E}">
        <p14:creationId xmlns:p14="http://schemas.microsoft.com/office/powerpoint/2010/main" val="380716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D297B-F93F-4378-83D4-B73B5AA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Режимы мощности: 3 × 1Ф или 1 × 3Ф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F1980-5DC3-4CB0-A1E8-8E3F69E0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Четыре порта при присоединённой мощности около 22 кВт.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A7F9B-4AA1-433D-A940-F9C6017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254C7-FCB1-4AE3-B9C2-7FDAA5DC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5429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× 7,4 кВт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6783A-EB67-477B-9173-7C05EBE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5048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A9D7D3"/>
                </a:solidFill>
                <a:latin typeface="Arial"/>
                <a:ea typeface="Arial"/>
                <a:cs typeface="Arial"/>
              </a:rPr>
              <a:t>1 × 22 кВт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CF5F1-B97C-439E-B341-2965486A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9D7D3"/>
                </a:solidFill>
                <a:latin typeface="Arial"/>
                <a:ea typeface="Arial"/>
                <a:cs typeface="Arial"/>
              </a:rPr>
              <a:t>Три однофазные EVSE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D73DE-82B4-463D-BEAF-3DA1D3C1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00062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EV1: L1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EV2: L2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EV3: L3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Одновременно около 22,2 кВт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85B65-51EF-49E7-B663-E0E46B9D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9D7D3"/>
                </a:solidFill>
                <a:latin typeface="Arial"/>
                <a:ea typeface="Arial"/>
                <a:cs typeface="Arial"/>
              </a:rPr>
              <a:t>Одна трёхфазная EVSE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E304B-F70A-46E2-821F-1A3B86D1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57600"/>
            <a:ext cx="50101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EV4: L1 + L2 + L3 + 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Работает только при выключенных EV1, EV2 и EV3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48ECA-452C-40C1-83C0-EC5C1194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Одновременная работа EV4 и любого из EV1–EV3 запрещена логикой управления.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11335107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29BDE-B346-441C-AAFB-2FD6190C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Доступ для жителей: NFC и PWA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B90D6-AFEA-4E64-B7C4-C6DBE707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Без отдельного приложения и активного RFID-считывателя.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72184-F83E-4BBB-AB6C-D27EA375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ce62d39524ee0"/>
          <a:stretch xmlns:a="http://schemas.openxmlformats.org/drawingml/2006/main"/>
        </p:blipFill>
        <p:spPr>
          <a:xfrm xmlns:a="http://schemas.openxmlformats.org/drawingml/2006/main">
            <a:off x="552450" y="2190017"/>
            <a:ext cx="4000500" cy="33923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A437D-6B83-440C-949A-00189862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193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1. Подойти и открыть PWA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23139-98E9-4581-8681-F8800FF1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Телефон считывает NFC-табличку нужного порта. URL содержит идентификатор порта.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F5A7B-0591-419F-9D83-4E6CD5A7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86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2. Авторизоваться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400A5-4352-4881-9FB1-BA487E7E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81425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Backend связывает пользователя с договором или лицевым счётом и проверяет доступ.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25B33-D390-4B17-A190-4ADCB442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529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3. Начать зарядку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D7E7E-7D74-46AD-8C05-ECC6CDFC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482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Backend включает разрешённый порт. NFC определяет порт, PWA — пользователя.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FC42E-F925-471F-82D3-C5CFEF4D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Пассивная NFC/QR-табличка не требует питания и входа в шкаф.</a:t>
            </a:r>
          </a:p>
        </p:txBody>
      </p:sp>
    </p:spTree>
    <p:extLst>
      <p:ext uri="{BB962C8B-B14F-4D97-AF65-F5344CB8AC3E}">
        <p14:creationId xmlns:p14="http://schemas.microsoft.com/office/powerpoint/2010/main" val="2916724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C65BF-C363-4113-9343-3412F985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Авторизация и начисления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53310-360E-4C8D-BA00-9DBF1849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УК передаёт номер договора или лицевого счёта, дом и статус доступа.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FD2CC-BC42-4591-A895-C1AC29F8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3BCC9-7425-42A6-A84F-FEB1E10F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737D7-D450-4E6F-B1B6-3BE59EA8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Модель зон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7E0FC-8534-4F05-82B5-9C020C61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Дом входит в charging_zone. Одна зона может объединять несколько домов, договор — давать доступ к одной или нескольким зонам.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D08DB-1D33-4984-B7BE-50CEAA77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795AD-6B25-478C-A253-AC88EDBB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Семейный 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0015D-8606-496A-9313-03992533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У нескольких пользователей разные user_id, но один billing_account_id. Месячное потребление суммируется в общий лицевой счёт.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B3044-2669-4345-A65B-9F18B7C6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CEACC-E385-48F6-9AA7-97227AEA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Экспорт в 1С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34C3D-7337-4B50-8EC7-1A609D2A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Передаётся итог за период: account_id, station/zone, период, энергия и сумма. Повторный экспорт не должен дублировать начисление.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4BECD-6906-46CF-88A4-25720F07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Проверка доступа: договор → дом → зона → разрешение на конкретную станцию.</a:t>
            </a:r>
          </a:p>
        </p:txBody>
      </p:sp>
    </p:spTree>
    <p:extLst>
      <p:ext uri="{BB962C8B-B14F-4D97-AF65-F5344CB8AC3E}">
        <p14:creationId xmlns:p14="http://schemas.microsoft.com/office/powerpoint/2010/main" val="19697580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96366-D64F-45ED-97CA-077B59AB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Безопасность и контроль состояний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C4687-B994-4C43-A927-5F54FA12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Backend проверяет фактическое состояние каждого контактора.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069C5-07D5-4578-B849-AC59CAC0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923EC-431B-4801-B062-B53677BF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АВДТ на каждый порт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E367F-0F7E-4032-9F63-E34EE523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Защита от КЗ, перегрузки и утечки 30 мА. Тип зависит от наличия защиты от 6 мА DC в EVSE.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C6DA8-D888-40ED-B6AA-A8612151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Обратная связь контакторов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A9043-B9C3-4038-B925-B528D2EE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DI подтверждает включение и отключение K1–K4. Команда DO сама по себе не подтверждает состояние.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F6818-3B36-4520-94A8-1C2C0C01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Потеря связи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4F9BD-F053-4F58-92EA-82448019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Watchdog переводит все DO в OFF после заданного таймаута связи с backend.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F7047-388F-41F2-9996-4B3F1E66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Контроль режимов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E9DC5-8815-4392-8DCF-C10F0C6A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K4 не может работать вместе с K1–K3. Нарушение вызывает отключение всех портов и аварию.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48DF0-116F-4261-BF1C-244BD72D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Дополнительно: E-STOP и контакт УЗИП на DI. Критические переходы проверяются на HIL-стенде.</a:t>
            </a:r>
          </a:p>
        </p:txBody>
      </p:sp>
    </p:spTree>
    <p:extLst>
      <p:ext uri="{BB962C8B-B14F-4D97-AF65-F5344CB8AC3E}">
        <p14:creationId xmlns:p14="http://schemas.microsoft.com/office/powerpoint/2010/main" val="16787010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98435-1783-4888-A97E-26BD18E5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Что находится в общем шкафу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49C19-D67A-4B87-9EC4-FAB4CF5F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Учёт, защита, коммутация и связь для нескольких стоек.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ADD04-00F5-4868-AA91-C6744584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e3ff67d144c11"/>
          <a:stretch xmlns:a="http://schemas.openxmlformats.org/drawingml/2006/main"/>
        </p:blipFill>
        <p:spPr>
          <a:xfrm xmlns:a="http://schemas.openxmlformats.org/drawingml/2006/main">
            <a:off x="552450" y="2257021"/>
            <a:ext cx="4000500" cy="325835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20510-41D5-4A1B-BDFC-FC1439D7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193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Связь и управление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6754E-EB91-478E-9EA4-72E9E109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WB-MGE, WBIO-DO и WBIO-DI. Ethernet связывает шкаф с центральным backend.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58925-2C51-4680-A8A4-DD609A63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86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Учёт и силовая часть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E59E0-DE2B-4F2B-BC33-3E510E3A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81425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CE307 по RS-485, АВДТ EV1–EV4, контакторы K1–K4, клеммы L / N / 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ECD15-D526-40AC-91B3-F03C456E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529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Питание и экономика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583CA-EF98-4DEC-9769-27C9B8AA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482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Блок питания 24 В DC для MGE/WBIO. Локальный WB8/PLC не нужен: база и логика находятся на сервере.</a:t>
            </a:r>
          </a:p>
        </p:txBody>
      </p:sp>
    </p:spTree>
    <p:extLst>
      <p:ext uri="{BB962C8B-B14F-4D97-AF65-F5344CB8AC3E}">
        <p14:creationId xmlns:p14="http://schemas.microsoft.com/office/powerpoint/2010/main" val="2013031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CE398-3998-44E7-84E0-5D4F4E19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Уличная конструкция: лёгкие стойки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A3477-8029-4142-A8E9-AF088681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Тяжёлая автоматика остаётся в общем шкафу.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9AC59-D797-4F95-8044-7301C832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4352e899c4592"/>
          <a:stretch xmlns:a="http://schemas.openxmlformats.org/drawingml/2006/main"/>
        </p:blipFill>
        <p:spPr>
          <a:xfrm xmlns:a="http://schemas.openxmlformats.org/drawingml/2006/main">
            <a:off x="1013095" y="1990725"/>
            <a:ext cx="3079210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6AF6B-59CC-45EB-B6B0-A67FAB07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193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Шкаф и фундамент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C5449-0567-42AB-8AF1-C8BBBC8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Шкаф на основании у бордюра: доступ для обслуживания, защита от влаги и подогрев при необходимости.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987C9-0EB8-45B8-9619-5351F1FB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86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Простая стойка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F15C4-0C09-4262-8EB8-D7F8A0CE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81425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Профиль 40×40 или 50×30 мм. На стойке EVSE, кабель, NFC/QR и опциональная аварийная кнопка.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2EE1C-68A8-4B71-8D41-3E4EF4C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529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Защита от техники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833BE-AADE-43D3-8E00-94897B99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482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Основание выбирают по грунту, ветру и снегу. Для защиты используют колесоотбойники, а не массивную стойку.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0F94E-955C-49EB-B4F2-575B5228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Кабель 5 м обслуживает соседние места. Стойка дешёвая и заменяемая.</a:t>
            </a:r>
          </a:p>
        </p:txBody>
      </p:sp>
    </p:spTree>
    <p:extLst>
      <p:ext uri="{BB962C8B-B14F-4D97-AF65-F5344CB8AC3E}">
        <p14:creationId xmlns:p14="http://schemas.microsoft.com/office/powerpoint/2010/main" val="19015003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42308-699B-4410-A89C-1C9B51E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Как не вскрывать асфальт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62CF0-27FA-401C-8072-04CFFBB6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Магистраль идёт по газону или технической полосе у бордюра.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E0854-5EE3-4DEE-BF8E-A121524D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cf485f1d548a5"/>
          <a:stretch xmlns:a="http://schemas.openxmlformats.org/drawingml/2006/main"/>
        </p:blipFill>
        <p:spPr>
          <a:xfrm xmlns:a="http://schemas.openxmlformats.org/drawingml/2006/main">
            <a:off x="920361" y="1971675"/>
            <a:ext cx="10256028" cy="3257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2DC7C-8828-4F68-B516-EF6123CE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Прокол / ГНБ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C42E5-D6E6-45AC-8023-BD407FC9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625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Резервная ПНД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206CB-6BA7-4691-B676-8E5869B2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62575"/>
            <a:ext cx="3257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Без вскрытия покрытия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83A44-6E71-48B0-9586-134F944E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При пересечении асфальта используют прокол или ГНБ. Резервная труба позволяет добавлять стойки по мере спроса.</a:t>
            </a:r>
          </a:p>
        </p:txBody>
      </p:sp>
    </p:spTree>
    <p:extLst>
      <p:ext uri="{BB962C8B-B14F-4D97-AF65-F5344CB8AC3E}">
        <p14:creationId xmlns:p14="http://schemas.microsoft.com/office/powerpoint/2010/main" val="3173714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98C1B-3F3E-4210-8064-A0714B27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Дорожная карта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CFC09-B6DD-44B3-B67F-0DAC172F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Сначала стендовая проверка, затем шкаф и первый двор.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1D315-BDEA-48DB-86C1-CF57C302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1D00B-29C9-4E7E-A1C0-D7B6D234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P0. Обследование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D1FFF-CD94-4E98-8735-E1300541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38350"/>
            <a:ext cx="750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СКУД / Ethernet, место шкафа, длины трасс, модели EVSE и требования УК.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16A40-0023-4FFE-A004-3252E18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P1. Стенд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6950F-95F6-40E1-9D88-19748795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90825"/>
            <a:ext cx="750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WB-MGE + WBIO + CE307 + контакторы. Watchdog, обратная связь и Modbus.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96B44-0E69-43B1-8EFA-89EE4C0C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P2. Пилотный шкаф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23C92-5C69-47DF-821C-D970176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750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Одна стойка, PWA/NFC и первый расчётный период.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1E98C-C030-43AC-BA35-D52319F5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P3. Интеграция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979C6-6B8C-483D-9AD2-D4F3E423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95775"/>
            <a:ext cx="750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Синхронизация договоров и зон, экспорт в 1С и отчёт для УК.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FC535-A32C-4941-A0B2-FF622D08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P4. Тиражирование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28E79-296F-41F5-91F2-C4724A22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48250"/>
            <a:ext cx="750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Типовая спецификация, проект, регламенты и мониторинг.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D1E87-26B1-4C7F-99B1-180FDA17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Критические переходы и аварийные сценарии проверяются до запуска во дворе.</a:t>
            </a:r>
          </a:p>
        </p:txBody>
      </p:sp>
    </p:spTree>
    <p:extLst>
      <p:ext uri="{BB962C8B-B14F-4D97-AF65-F5344CB8AC3E}">
        <p14:creationId xmlns:p14="http://schemas.microsoft.com/office/powerpoint/2010/main" val="3926194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A7F3A-92B2-4CB1-AA84-9AF077E1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Что нужно согласовать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15DC2-C457-4815-9F30-9F1B15A1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Зоны ответственности участников пилота.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C88F9-E658-4583-B8C2-525DA7CE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C5199-DB50-4667-ABC1-3C8BAFE9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УК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ADCDA-D8BB-4588-82CC-92730F77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Место установки, доступ, договор и лицевой счёт, порядок начислений, зона ответственности.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E9477-F6C4-49A0-8185-09C4244D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Энергетик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4C718-B713-46BE-93F1-26096C8A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Выделенная мощность, CE307, АВДТ, УЗИП, PE, схема отключения и исполнительная документация.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03C0B-E18A-4C48-A466-A43C57B9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Слаботочка /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8F053-5303-4DF4-93B4-DECFD1B6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Ethernet или VLAN, IP-адреса, firewall, доступ к backend, мониторинг и кибербезопасность.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7DA07-4344-4D8F-93E9-417569D5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Жители / владельцы 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7C21D-3A1B-4DAC-8F54-DD399E6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Финансирование, размещение стоек, правила пользования, PWA и занятые парковочные места.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5A824-1587-4280-9B71-A4208B7A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Старт: один шкаф, одна лёгкая стойка, NFC/PWA, Ethernet УК и первый расчётный месяц.</a:t>
            </a:r>
          </a:p>
        </p:txBody>
      </p:sp>
    </p:spTree>
    <p:extLst>
      <p:ext uri="{BB962C8B-B14F-4D97-AF65-F5344CB8AC3E}">
        <p14:creationId xmlns:p14="http://schemas.microsoft.com/office/powerpoint/2010/main" val="14984938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B24E4-FC8F-4CAE-8BE0-C8CF7017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Нормативная карта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3E27D-AB58-4F0F-80E2-EC076F5B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Жилищные, электротехнические, пожарные и местные требования.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BED64-7FB7-4564-8EB6-FF9B4B3B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628D-5F44-4041-8677-0FD6F02B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Общее имущество МКД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EF4C5-65E6-4C11-A79B-0BA3DE7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ЖК РФ, ст. 36 и 44: участок, благоустройство и решения ОСС. Формулировка решения определяет требуемый кворум.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82090-BBD3-4B38-9E7A-C83A8248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Электроснабжение и EVSE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CA928-131A-4EF2-9B8E-BEF313E1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СП 256: нагрузка и питание. У каждой EVSE отдельная конечная цепь и защита. Управление нагрузкой допускается.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B3612-DA74-4690-ABC5-7CB4F62C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Стоянки и пожарная защита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CB80B-7741-4589-95EA-7C5DEEC5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СП 113: размещение, кабель, IP и колесоотбойники. СП 551: пожарная безопасность, совместное размещение EV и ДВС.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C4DF1-364E-4B1B-87C2-121BAB73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Екатеринбург и область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C6C09-ABF1-4B4A-B22B-E6AA6BD8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НГП, ПЗЗ и благоустройство. Для двора проверяют границы участка, сети и зелёные насаждения.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3FE8B-0BCD-4E7C-899C-2698A20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Основа запуска: рабочий проект, необходимые решения собственников и технические условия.</a:t>
            </a:r>
          </a:p>
        </p:txBody>
      </p:sp>
    </p:spTree>
    <p:extLst>
      <p:ext uri="{BB962C8B-B14F-4D97-AF65-F5344CB8AC3E}">
        <p14:creationId xmlns:p14="http://schemas.microsoft.com/office/powerpoint/2010/main" val="15747377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2AA07-2C05-42E4-AD09-75C7D15F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Новый МКД: сколько мест с зарядкой?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1402F-DC5F-4885-AF25-8FA55DFA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Прежняя цифра «5%» не переносится автоматически в новый проект.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701E8-8082-4988-A2D8-EE61B39B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C387C-BEEE-454D-B5A9-53DC0AE9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9D7D3"/>
                </a:solidFill>
                <a:latin typeface="Arial"/>
                <a:ea typeface="Arial"/>
                <a:cs typeface="Arial"/>
              </a:rPr>
              <a:t>До 12 июля 2026 года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CB1D0-02AA-4435-B4A1-4F1C3626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51720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 42.13330.2016, п. 11.44: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менее 5% общего числа мест — для хранения электромобилей с зарядными устройствами.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B4778-94A2-4B40-8653-D812918D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9D7D3"/>
                </a:solidFill>
                <a:latin typeface="Arial"/>
                <a:ea typeface="Arial"/>
                <a:cs typeface="Arial"/>
              </a:rPr>
              <a:t>С 12 июля 2026 года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0D68F-09E5-4A1A-BDC1-86F373F6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57475"/>
            <a:ext cx="51720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 42.13330.2026 заменил прежнюю редакцию. В разделах 8.131–8.139 прежней универсальной квоты 5%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Количество мест сверяют с РНГП, МНГП, ПЗЗ и заданием на проектирование.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03D3F-0BC8-40CD-BCCD-2677955E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В новом доме заранее предусматривают мощность, кабельные трассы и место в ВРУ по СП 256.</a:t>
            </a:r>
          </a:p>
        </p:txBody>
      </p:sp>
    </p:spTree>
    <p:extLst>
      <p:ext uri="{BB962C8B-B14F-4D97-AF65-F5344CB8AC3E}">
        <p14:creationId xmlns:p14="http://schemas.microsoft.com/office/powerpoint/2010/main" val="5175904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D01E9-CAAD-44B8-A78C-A57F75D3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Отдельная линия на каждую EVSE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9F84D-6AAC-4B47-AD03-1F1A5FEE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Центральное управление не заменяет индивидуальную электрическую защиту.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CE4BD-569B-47E0-B635-A6C48FB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F7BDE-A2A9-4443-9D51-B3FD4FFE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8BE72-0299-4151-ABC7-87EAF7FA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Конечные цепи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8E3BB-6F75-4425-86DB-7119A762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У каждой EVSE свой аппарат защиты и кабель. Объединение зарядок «шлейфом» под одним аппаратом не допускается.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F13B7-78F7-400A-9028-87E3EC6C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71A87-CA32-49EE-A92E-1ADB34AD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Расчёт нагрузки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60146-BF40-4A9C-92D3-5F4187D7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СП 256 предусматривает коэффициенты спроса. Расчёт не обязан равняться простой сумме паспортных мощностей EVSE.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7C702-C3CB-4292-ABE4-03E290EB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87B20-DEAF-49FE-B1DF-97C98948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Управление мощностью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2F21C-171B-4DF0-A830-9DDB234D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СП 113 допускает перераспределение и снижение мощности. В проекте эту функцию выполняют backend и WB-MGE.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CF6F8-D86F-48A8-9584-3183C669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Питание: ВРУ → общий CE307 → отдельные АВДТ и контактор → кабель → EVSE.</a:t>
            </a:r>
          </a:p>
        </p:txBody>
      </p:sp>
    </p:spTree>
    <p:extLst>
      <p:ext uri="{BB962C8B-B14F-4D97-AF65-F5344CB8AC3E}">
        <p14:creationId xmlns:p14="http://schemas.microsoft.com/office/powerpoint/2010/main" val="9847310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3B260-E399-47F5-8F42-E994970D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Открытая парковка: безопасность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9423B-A8B2-4E5F-B78B-FC31546C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Пожарные требования и условия уличной эксплуатации.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6A3B0-1DD4-4463-9BB1-618CE1B0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A49EE-F627-4F1A-84B9-26FC99C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Общие места EV и ДВС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ABE21-E8DA-4828-AEB7-6B8FE88B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СП 551.1311500.2026, п. 7.1 допускает совместную стоянку, в том числе места с зарядкой.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DCF84-9058-4E75-B84E-5A6A0B94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Защита от погоды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595F1-535F-4FE0-BEBF-8E3EC167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СП 113: для открытой установки не ниже IP54. Учитываются осадки, снег, ветер и длина кабеля.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EE506-A5A6-46FF-A4C1-2DA5A584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Механическая защита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F6978-410D-4E74-9C3A-58F69739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При соответствующем размещении нужны колесоотбойники. Стойки и шкаф находятся у бордюра, трассы — в земле и ПНД.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2F80F-06E9-424E-B928-B5654B04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Аварийное отключение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1E396-FA2A-4126-99A9-69BDAB63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Опциональный E-STOP: НЗ-контакт на WBIO-DI. Backend отключает контактор. Обрыв линии тоже считается аварией.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8B58D-432D-43D7-A513-99F25C5C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Проверяют пригодность конкретной штатной EVSE к улице и наличие требуемой DC-защиты.</a:t>
            </a:r>
          </a:p>
        </p:txBody>
      </p:sp>
    </p:spTree>
    <p:extLst>
      <p:ext uri="{BB962C8B-B14F-4D97-AF65-F5344CB8AC3E}">
        <p14:creationId xmlns:p14="http://schemas.microsoft.com/office/powerpoint/2010/main" val="11862389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E6293-0360-4A31-99CB-49096E76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Екатеринбург: местные нормативы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199A0-5685-4B9B-8784-04803DEF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Норматив парковочного обеспечения не равен отдельной квоте для EV.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09084-4320-4672-8359-DD75984A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0EA38-E3A6-4BB8-AE15-66466D5B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Парковки нового жилья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C3E54-5B19-4C00-BE6F-C0597AF3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51720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Решение ЕГД №60/65 от 28.12.2021: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не менее одного места на 80 м² жилищного фонда.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Количество EV-мест определяют по федеральным и местным требованиям и заданию на проектирование.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42146-9B95-4083-8794-A57CE5D9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Для существующего двора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09E30-8291-4ADB-9227-DBF8EFD8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57475"/>
            <a:ext cx="51720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Проверяют границы участка. Для общего имущества нужно решение ОСС, за границей участка — иное основание размещения.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На газоне учитывают сети, корни, насаждения и правила благоустройства.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45DB5-49D0-4F7D-B59C-42024246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Кабель 5 м даёт доступ с нескольких общих мест и не закрепляет парковку за владельцем EV.</a:t>
            </a:r>
          </a:p>
        </p:txBody>
      </p:sp>
    </p:spTree>
    <p:extLst>
      <p:ext uri="{BB962C8B-B14F-4D97-AF65-F5344CB8AC3E}">
        <p14:creationId xmlns:p14="http://schemas.microsoft.com/office/powerpoint/2010/main" val="791539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24136-EA63-4C82-9CA4-4394CDEE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ОСС, эксплуатация и рабочий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C0FD2-7B8E-42C5-AFF3-A8F31F5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Юридические решения и технические требования согласуются отдельно.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D75DE-6AC0-46DA-96DE-0716367A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B1784-6758-49D3-BCBD-47001F1A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ОСС собственников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47893-546B-4BF4-99BE-659A409C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Место шкафа и стоек, использование участка, финансирование, доступ, полномочия УК и оплата электроэнергии.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78DE4-9BE0-44B9-84D0-201B2066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УК / эксплуатация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7C778-B58C-4AE0-AF95-18FC6686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Обслуживание, аварийные регламенты, доступ в шкаф, учёт и 1С, реагирование на E-STOP/УЗИП, уборка снега.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88207-1C6D-4C7F-A90F-9BDC363E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Энергетик / проектировщик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1A483-D013-4FAE-8301-D3B2FBB2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Мощность, подключение, КЗ и заземление, АВДТ каждой EVSE, УЗИП, сигнализация, трассы и фундамент.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DC1BC-FF9F-421D-99EC-1DC34BD6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Жители / пользователи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AEF85-2768-4F64-BD35-A87DFCFE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PWA/NFC/QR, договор и лицевой счёт, сессии, начисления, общие места, кабель и правила эксплуатации.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07E25-22CB-4517-906B-8D55B0EC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Участок → ОСС → обследование → проект → согласование → монтаж → измерения и ввод.</a:t>
            </a:r>
          </a:p>
        </p:txBody>
      </p:sp>
    </p:spTree>
    <p:extLst>
      <p:ext uri="{BB962C8B-B14F-4D97-AF65-F5344CB8AC3E}">
        <p14:creationId xmlns:p14="http://schemas.microsoft.com/office/powerpoint/2010/main" val="11054871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974BF-6861-403E-89EE-66657600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Пилот без ОСС: муниципальная площадка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412E2-0EDE-4C1D-AD03-6D6E6C69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Условие модели: пилот не использует общее имущество МКД.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3E1EC-5113-4C4A-A6BD-58B69B7D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A9953-68FF-4971-BCED-EFF2E998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9D7D3"/>
                </a:solidFill>
                <a:latin typeface="Arial"/>
                <a:ea typeface="Arial"/>
                <a:cs typeface="Arial"/>
              </a:rPr>
              <a:t>Что не используется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3D325-1088-4CF5-9C81-31250469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51720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Земельный участок МКД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ВРУ и щитовая дома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Общедомовой кабель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Фасад и конструкции дома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Если задействован хотя бы один элемент, вопрос ОСС возвращается.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835FE-5CBA-4966-8F5D-AF23DA0F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9D7D3"/>
                </a:solidFill>
                <a:latin typeface="Arial"/>
                <a:ea typeface="Arial"/>
                <a:cs typeface="Arial"/>
              </a:rPr>
              <a:t>Как устроен пилот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3CFDC-5088-48C2-BB80-8A369995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57475"/>
            <a:ext cx="51720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Муниципальная площадка у парковки.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Шкаф, стойки, кабели и EVSE не входят в общее имущество МКД.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Места остаются общими для EV и ДВС. Backend и сервис обслуживает оператор или ИП.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0F36A-DA1E-47D0-B4CC-32489EAA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D7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D7D3"/>
                </a:solidFill>
                <a:latin typeface="Arial"/>
                <a:ea typeface="Arial"/>
                <a:cs typeface="Arial"/>
              </a:rPr>
              <a:t>Граница пилота определяется правом на землю и принадлежностью сетей, а не расстоянием до дома.</a:t>
            </a:r>
          </a:p>
        </p:txBody>
      </p:sp>
    </p:spTree>
    <p:extLst>
      <p:ext uri="{BB962C8B-B14F-4D97-AF65-F5344CB8AC3E}">
        <p14:creationId xmlns:p14="http://schemas.microsoft.com/office/powerpoint/2010/main" val="3809048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E4562-36E9-428E-944A-27873AE8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Роль администрации района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83BCB-9097-48FC-B6D2-076D780B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Район инициирует и координирует пилот. Право на землю оформляет уполномоченный орган.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4402B-9E32-47F2-9040-C1D51ABC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267E6-A8DA-42FD-96E5-E84FB298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7403B-801E-4748-9DF7-00D580D2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Администрация района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F3BFC-63EE-4EDF-9116-4F93756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Подбирает 1–3 площадки, координирует благоустройство, собирает городские службы и формирует общественную поддержку.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C5DC8-971F-4D95-BD25-23D00C9D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0EB1B-2308-494C-AD6F-57CEA2C2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Земельный блок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534C5-C915-4704-BA0C-484561F7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Проверяет кадастр и собственника. Определяет основание размещения с учётом областного перераспределения полномочий.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6D5A0-372B-4B83-AB2C-8930CB5B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29EB9-C5ED-49DA-9983-EBC5ED6D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Энергетика и сети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E8AC2-3A0E-435E-8C03-6CE7E631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Определяют точку подключения, мощность, учёт, ТУ при необходимости, заземление и токи КЗ. Принимают электрическую часть.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D2A15-26BD-473D-9A8E-F1AE416C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Решение ЕГД №15/6 и Закон области №98-ОЗ: статус земли проверяют до выбора правового титула.</a:t>
            </a:r>
          </a:p>
        </p:txBody>
      </p:sp>
    </p:spTree>
    <p:extLst>
      <p:ext uri="{BB962C8B-B14F-4D97-AF65-F5344CB8AC3E}">
        <p14:creationId xmlns:p14="http://schemas.microsoft.com/office/powerpoint/2010/main" val="14334676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0EDCD-902E-4AC5-BFCD-1EE3D020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Собственность и эксплуатация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66A28-53C6-48B4-9273-CA8B9657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Предпочтительная модель: публичная инфраструктура и договор на обслуживание.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D23BC-6210-45B5-AC60-2FB5E860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299A9-EABB-447A-8062-2AD6374A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EB660-60CF-45FF-B5E4-FC737A2A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Администрация / город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8CF79-2B1B-4803-A3E7-6F8A766F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Площадка, правовое основание, координация, условия и приёмка пилота.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Оборудование остаётся у публичной стороны или балансодержателя.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CC1A7-697F-4706-A717-9CF88350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0C85E-D487-4CA2-B251-2DF6C64C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Общая инфраструктура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A24E5-DE39-4C17-88FE-840E4585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Шкаф и CE307</a:t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WB-MGE и WBIO</a:t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АВДТ и контакторы</a:t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Стойки и EVSE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Открытый Modbus и экспорт данных позволяют сменить оператора.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8AA8C-1B82-415F-8857-1B92291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A9B80-E51E-4F98-B8BA-7878B3C5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ИП-оператор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4B79E-2DA4-409B-A80B-40F26D7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Go / PostgreSQL, PWA и NFC/QR, мониторинг, обновления, резервные копии, API и отчёты.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Цена и закупка — по 44-ФЗ; «1 рубль» не основание выбора поставщика.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28FA6-5970-4CCD-8670-00D3B916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ИП получает договор обслуживания. Передача ему участка в этой модели не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10220375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B8096-FC15-4AEC-A455-1779119E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Пилот через администрацию района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2C2BF-2ECC-48E2-A596-BFD9114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От подбора площадки до измеримых результатов эксплуатации.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93C09-415F-4D83-89D6-8D345602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66E26-51D5-42A8-8C65-F4707210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1. Площадка и статус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B9B9C-FEB5-45D1-B961-143BDCDF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38350"/>
            <a:ext cx="750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1–3 локации, кадастр, распорядитель, сети, насаждения и основание размещения.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AE9DF-408D-426D-8597-E7BAB885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2. Энергетика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5C1AC-4795-4511-9FF6-228E4520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90825"/>
            <a:ext cx="750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Точка подключения, мощность, учёт и технические условия при необходимости.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0DAD1-1026-4341-B4D0-AA79968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3. Проект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87E7E-851A-46F1-9707-D78A86B6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750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Шкаф, ближайшая 3Ф EVSE, дальние 1Ф стойки, индивидуальная защита линий.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F72D8-A1AD-4FD0-913A-3E8CEE0A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4. Монтаж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37D6A-2084-4852-AD4A-CBF5BF9A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95775"/>
            <a:ext cx="750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Трассы по газону, ПНД или прокол без вскрытия асфальта, лёгкие стойки.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F610D-66EB-4EAF-BD08-36B4E89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5. Опытная эксплуатация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DFE8C-8FB4-4322-8E76-D3634E66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48250"/>
            <a:ext cx="750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NFC/QR, backend, аварии, энергия, сессии, занятость и зимняя надёжность.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9A195-E7E5-4E92-BA30-3D5EA36A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Результат: спрос, кВт·ч, стоимость обслуживания, зимняя надёжность и потребность в расширении.</a:t>
            </a:r>
          </a:p>
        </p:txBody>
      </p:sp>
    </p:spTree>
    <p:extLst>
      <p:ext uri="{BB962C8B-B14F-4D97-AF65-F5344CB8AC3E}">
        <p14:creationId xmlns:p14="http://schemas.microsoft.com/office/powerpoint/2010/main" val="16637335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2391F-1EC0-426F-8094-02E7D1A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Кто и как платит за зарядку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19960-9443-4D16-8A0B-37EBC98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Индивидуальная услуга пользователя EV, отдельная от ОДН и КР на СОИ.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DBED0-EE19-40EA-B22B-94BADFFC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8C469-63B1-46AD-B622-84C4C93A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Пользователь и 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B2CC8-328D-4276-A14E-37DB282E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Пользователь принимает оферту и привязывает лицевой счёт. Backend сводит сессии, кВт·ч, сумму и версию оферты.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902D9-8B17-4A7C-A7C0-0F97F9A0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УК / ЕРЦ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D6C91-B156-4AF9-A17D-AF06B64F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Отдельная строка в квитанции при наличии договора или акцепта и согласованной агентской схемы.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7F49F-F760-4BFA-BBA0-D9F45551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Распределение оплаты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DBE1B-ACD5-424C-8FF2-11C07AFE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Энергетическая часть покрывает потреблённую энергию. Сервисная часть поступает оператору на обслуживание.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F8C5D-5AE7-4F5E-A53B-FAB975D8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ИП-оператор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2D1B1-51AF-4D93-8268-19CD4B1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Backend, диспетчеризация, учёт, поддержка и регламентное обслуживание по договору.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8291A-A686-40CA-BDFD-D5374397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EV-потребление не распределяют на всех собственников. Схему начислений согласуют с УК/ЕРЦ и бухгалтером.</a:t>
            </a:r>
          </a:p>
        </p:txBody>
      </p:sp>
    </p:spTree>
    <p:extLst>
      <p:ext uri="{BB962C8B-B14F-4D97-AF65-F5344CB8AC3E}">
        <p14:creationId xmlns:p14="http://schemas.microsoft.com/office/powerpoint/2010/main" val="88657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2EC3A-F023-4C2A-BA8B-DC17165E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Как финансировать расширение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678CA-2ACD-4907-92B8-5F304CFE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Разовый инфраструктурный платёж с явным согласием пользователя.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81906-A670-43D3-A45C-4AD869CE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3797D-0191-4383-8341-1AC5632F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Назначение и размер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D2472-3CD0-4B55-9732-A64BEEA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51720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Новые стойки, кабельные трассы и резерв на ввод точек. Назначение раскрывается в оферте.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Платёж ≈ стоимость очередного расширения ÷ число новых постоянных пользователей + резерв.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CE037-A572-4831-9886-F9D63874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После подтверждения спроса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0E13E-A599-4CBF-82D5-98E10FD3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57475"/>
            <a:ext cx="51720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ОСС определяет включение инфраструктуры в общее имущество, использование и финансирование.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УК управляет и обслуживает. Собственниками общего имущества остаются собственники помещений.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D9C02-B7DB-40DF-AD4D-80DE5739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Сам по себе платёж не создаёт долю собственности в оборудовании: для этого нужно отдельное оформление.</a:t>
            </a:r>
          </a:p>
        </p:txBody>
      </p:sp>
    </p:spTree>
    <p:extLst>
      <p:ext uri="{BB962C8B-B14F-4D97-AF65-F5344CB8AC3E}">
        <p14:creationId xmlns:p14="http://schemas.microsoft.com/office/powerpoint/2010/main" val="10840743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9F7C7-2064-43CD-B148-C4E61A1C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Что выносим на голосование ОСС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5AA81-7771-4C87-99F1-25E552EB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Пример модели финансирования, который уточняют под состав имущества и договор управления.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FFEC6-2381-4712-9CFB-B55A1354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D6CC2-3A9A-4452-A768-616DDB55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Общая инфраструктура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487C9-61DD-4DE0-9FD2-D1209D89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Размещение шкафа, магистралей и системы балансировки. Общий бюджет — только на согласованную общую основу.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73D99-6250-4DAC-8CD7-615071C2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Энергия и конечные EVSE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DBE4D-D2F7-44B4-BFD5-E7A75348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100% оплачивают пользователи EV. Их потребление учитывают отдельно от ОДН/КР на СОИ.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72176-3BA2-4C28-A395-3B0EEC92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70089-1CB3-4AE9-8C38-70C0DC76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Кабель, сервис, backend и пользовательская часть финансируются через плату пользователей.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2BDE7-8088-46CB-A394-6D0624CB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521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Дальнейшее расширение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9D394-CD5C-4CE9-AFB6-0377EACB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2101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Предлагается 80–100% за счёт EV-пользователей. Новый общий сбор — только отдельным решением ОСС.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145D1-903A-473C-8AB1-F70F639B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Ст. 39 и 158 ЖК РФ: содержание общего имущества оплачивают собственники. Пользовательскую часть отделяют юридически.</a:t>
            </a:r>
          </a:p>
        </p:txBody>
      </p:sp>
    </p:spTree>
    <p:extLst>
      <p:ext uri="{BB962C8B-B14F-4D97-AF65-F5344CB8AC3E}">
        <p14:creationId xmlns:p14="http://schemas.microsoft.com/office/powerpoint/2010/main" val="14843146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48EE2-73E1-47FB-B35C-3BE9DBE9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Ценность для жителей без электромобиля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C392E-8FB7-4249-B5EE-F18296F8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Инженерная готовность дома, общие правила и оплата фактического использования.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D33B4-72CF-42B1-97EE-A38E7DA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AE263-ADA6-4ECC-8CCC-D751A3F3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67E64-D485-4170-B3D2-64FCE508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Владелец ДВС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1A847-DB7B-4712-8B58-775E3B32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Парковочные места остаются общими. Нет оплаты чужих кВт·ч и меньше самовольных кабелей.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При смене автомобиля инфраструктура уже есть.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8EEE4-5E53-4411-9D0A-DE646CDF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49816-144A-4B25-B5CE-14328F44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Житель без автомобиля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453C5-EFAA-42B6-AB5D-6DB6E845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Не оплачивает фактическую зарядку. Дом получает инженерную готовность и единые правила.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Возможность зарядки может расширить круг покупателей и арендаторов.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44388-372B-4027-B522-84073D9A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60F7A-BA93-4F2C-B3F2-6BDDF8A5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УК и дом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B2455-F6FE-4993-9DCE-BE07C882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352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Один проект, защита, лимит мощности, прозрачный учёт и подключение.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Расширение по спросу. Общий бюджет участвует только в согласованной базовой инфраструктуре.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9582D-51EE-46A9-8CED-3A87219C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PUNKT E связывает готовность к зарядке с привлекательностью объекта. Гарантированная прибавка цены жилья не заявляется.</a:t>
            </a:r>
          </a:p>
        </p:txBody>
      </p:sp>
    </p:spTree>
    <p:extLst>
      <p:ext uri="{BB962C8B-B14F-4D97-AF65-F5344CB8AC3E}">
        <p14:creationId xmlns:p14="http://schemas.microsoft.com/office/powerpoint/2010/main" val="6281309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0C5FB-B2DB-4BB9-988F-D1255A5D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PUNKT E и коммунальная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A977F-1303-46E9-AB9C-385FB347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Начальные затраты на оборудование и организация обслуживания.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3A156-EC20-477D-A82F-7983BE0D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E4CF5-8F72-46D5-9D4B-E5B7A5FC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86F7D"/>
                </a:solidFill>
                <a:latin typeface="Arial"/>
                <a:ea typeface="Arial"/>
                <a:cs typeface="Arial"/>
              </a:rPr>
              <a:t>PUNKT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0C514-711C-4B0E-93CE-AE29025B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47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Коммунальная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DC4D2-5E17-418B-BA6C-F0F71D41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149 000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87F0D-A69C-4545-80D1-FC48443C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БИЗНЕС, AC 22 кВт, одна станция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C36C5-E4C1-4CB1-B019-54E20A76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279 000 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2BE27-E5C9-4131-A42E-480A8DD3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Напольная станция, 2 × 22 кВт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0CCDC-B5C1-47FD-8413-306AE54C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5191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4 точки: 596 000 ₽</a:t>
            </a:r>
          </a:p>
          <a:p xmlns:a="http://schemas.openxmlformats.org/drawingml/2006/main">
            <a:pPr>
              <a:defRPr sz="18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8 точек: 1 192 000 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1AA24-C595-498F-9C4D-23FDFD8A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384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 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20550-85AA-4998-88D1-26D63C2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1470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EVSE из общего бюджета и лицензия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218AE-E6BD-47C3-814E-3E1FFAA3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48125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11 440 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86CCC-9750-47AC-B5BC-AB01AA4D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509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Цифровое ядро: WB-MGE + DO + DI</a:t>
            </a:r>
          </a:p>
          <a:p xmlns:a="http://schemas.openxmlformats.org/drawingml/2006/main">
            <a:pPr>
              <a:defRPr sz="165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6 000 + 2 400 + 3 040 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84192-4DAC-493D-B49D-F1522391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292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Штатную EVSE предоставляет владелец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369C2-BE63-4270-9446-14B3BEB6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PUNKT E: стоимость только EVSE, шкаф балансировки по запросу. В коммунальной модели дополнительно нужны счётчик, защиты, контакторы, БП, шкаф, кабель и стойки.</a:t>
            </a:r>
          </a:p>
        </p:txBody>
      </p:sp>
    </p:spTree>
    <p:extLst>
      <p:ext uri="{BB962C8B-B14F-4D97-AF65-F5344CB8AC3E}">
        <p14:creationId xmlns:p14="http://schemas.microsoft.com/office/powerpoint/2010/main" val="14687550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8E47E-BB03-4F80-9C1E-E2C271CC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Экономика зарядки для жильца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C3BCE-9AF5-49A1-AD3B-EA25C6C1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Проектные ориентиры при потреблении 300 кВт·ч в месяц.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8D522-1EFC-4AD9-917E-6E5533D2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32417-22D6-4C98-8D3F-C4355694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3562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18–19 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36186-9148-411C-9A21-6E58B75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3448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Публичная PUNKT 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241CF-258B-45CD-AF85-6D54EC8E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за кВт·ч в Екатеринбурге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F4DDF-167B-489E-82B2-20931CAA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562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7,5–9 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40444-9EA2-45ED-9AC7-8F1BBD31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3448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Цель коммунального проекта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E9E99-1589-4ED9-9B3C-C3A4B168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195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за кВт·ч, проектный ориентир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2FC62-C56B-4ECE-921F-14DFC1E7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3562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2,7–3,45 тыс. 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5745D-BE86-40A2-84D4-607869A2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3448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Возможная экономия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6D997-B3CE-4459-9E63-CE208C8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в месяц при 300 кВт·ч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51E3A-6757-417A-AED5-62AE4073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Основа тарифа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D6996-AC84-4F3B-B5D7-74E86D5E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86350"/>
            <a:ext cx="636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Электроэнергия дома + небольшой сервисный и инфраструктурный резерв.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4C192-7630-4BDF-929D-4B045A82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Точный тариф PUNKT E определяется по коннектору в приложении. Фактический эффект зависит от тарифа дома.</a:t>
            </a:r>
          </a:p>
        </p:txBody>
      </p:sp>
    </p:spTree>
    <p:extLst>
      <p:ext uri="{BB962C8B-B14F-4D97-AF65-F5344CB8AC3E}">
        <p14:creationId xmlns:p14="http://schemas.microsoft.com/office/powerpoint/2010/main" val="7570213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15520-5911-424E-B91D-88C61A5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Почему выбирают коммунальную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A9A75-7FE7-47F0-AE19-2571E532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Один общий шкаф и уже имеющиеся штатные EVSE снижают затраты на точку.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69491-7E21-4FB4-8A7B-FC61631C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9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A50F5-84E9-4D7B-8292-B3319225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Когда подходит наша 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C2361-5644-46D8-9BAA-4EF5BB1E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51720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У МКД есть сеть, УК и команда обслуживания. Владельцы предоставляют EVSE.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Общие учёт и управление мощностью. Open source и открытые интерфейсы позволяют сменить подрядчика.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Расширение по реальному спросу.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E8202-CF26-4B35-8016-E37A4A02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Когда лучше PUNKT 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43113-4008-42B5-9571-E25A8BD3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57475"/>
            <a:ext cx="51720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Нужны готовое решение и единый коммерческий подрядчик.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Важны фирменная станция, гарантия, связь и готовая экосистема.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63D"/>
                </a:solidFill>
                <a:latin typeface="Arial"/>
                <a:ea typeface="Arial"/>
                <a:cs typeface="Arial"/>
              </a:rPr>
              <a:t>Нет команды для backend или планируется публичная эксплуатация.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718C6-8FC7-4A6F-9FCC-FC46A185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F7D"/>
                </a:solidFill>
                <a:latin typeface="Arial"/>
                <a:ea typeface="Arial"/>
                <a:cs typeface="Arial"/>
              </a:rPr>
              <a:t>Штатную EVSE проверяют по паспорту: улица, стационарная работа, DC-защита и допустимый режим использования.</a:t>
            </a:r>
          </a:p>
        </p:txBody>
      </p:sp>
    </p:spTree>
    <p:extLst>
      <p:ext uri="{BB962C8B-B14F-4D97-AF65-F5344CB8AC3E}">
        <p14:creationId xmlns:p14="http://schemas.microsoft.com/office/powerpoint/2010/main" val="1178157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2026-09-25T10:01:12.4580000Z</dcterms:created>
  <dcterms:modified xsi:type="dcterms:W3CDTF">2026-09-25T10:01:12.4580000Z</dcterms:modified>
</coreProperties>
</file>